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EX comparison" id="{4fe37a23-f1f5-190d-6485-d424112e7075}">
          <p14:sldIdLst>
            <p14:sldId id="256"/>
            <p14:sldId id="257"/>
            <p14:sldId id="258"/>
          </p14:sldIdLst>
        </p14:section>
        <p14:section name="Basis" id="{2e33810b-e4f1-f991-0d3f-33da7640e11d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ISBL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KBR H2ACT®</c:v>
                  </c:pt>
                  <c:pt idx="1">
                    <c:v>Air Liquide (implied from fee)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208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OSBL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KBR H2ACT®</c:v>
                  </c:pt>
                  <c:pt idx="1">
                    <c:v>Air Liquide (implied from fee)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71.6</c:v>
                </c:pt>
                <c:pt idx="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 CAPEX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KBR H2ACT®</c:v>
                  </c:pt>
                  <c:pt idx="1">
                    <c:v>Air Liquide (implied from fee)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133.1</c:v>
                </c:pt>
                <c:pt idx="1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Air Liquide implied CAPEX</c:v>
                </c:pt>
              </c:strCache>
            </c:strRef>
          </c:tx>
          <c:spPr>
            <a:solidFill>
              <a:srgbClr val="4A3AA7"/>
            </a:solidFill>
            <a:effectLst/>
          </c:spPr>
          <c:invertIfNegative val="0"/>
          <c:dLbls>
            <c:delete val="1"/>
          </c:dLbls>
          <c:cat>
            <c:multiLvlStrRef>
              <c:f>Sheet1!$A$2:$A$3</c:f>
              <c:multiLvlStrCache>
                <c:ptCount val="2"/>
                <c:lvl>
                  <c:pt idx="0">
                    <c:v>KBR H2ACT®</c:v>
                  </c:pt>
                  <c:pt idx="1">
                    <c:v>Air Liquide (implied from fee)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0</c:v>
                </c:pt>
                <c:pt idx="1">
                  <c:v>595.601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lineChart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F2933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2933"/>
              </a:solidFill>
              <a:ln w="9525" cap="flat">
                <a:solidFill>
                  <a:srgbClr val="1F29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KBR H2ACT®</c:v>
                  </c:pt>
                  <c:pt idx="1">
                    <c:v>Air Liquide (implied from fee)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412.7</c:v>
                </c:pt>
                <c:pt idx="1">
                  <c:v>595.601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1F2933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+mn-lt"/>
                  </a:rPr>
                  <a:t>MM USD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overlay val="0"/>
      <c:txPr>
        <a:bodyPr/>
        <a:lstStyle/>
        <a:p>
          <a:pPr>
            <a:defRPr sz="1200">
              <a:solidFill>
                <a:srgbClr val="5251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KBR, within source data (12–80 ktpa)</c:v>
                </c:pt>
              </c:strCache>
            </c:strRef>
          </c:tx>
          <c:spPr>
            <a:solidFill>
              <a:srgbClr val="2A78D6"/>
            </a:solidFill>
            <a:ln w="31750" cap="flat">
              <a:solidFill>
                <a:srgbClr val="2A78D6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Sheet1!$A$2:$A$46</c:f>
              <c:numCache>
                <c:formatCode>General</c:formatCode>
                <c:ptCount val="45"/>
                <c:pt idx="0">
                  <c:v>12</c:v>
                </c:pt>
                <c:pt idx="1">
                  <c:v>16</c:v>
                </c:pt>
                <c:pt idx="2">
                  <c:v>20</c:v>
                </c:pt>
                <c:pt idx="3">
                  <c:v>24</c:v>
                </c:pt>
                <c:pt idx="4">
                  <c:v>28</c:v>
                </c:pt>
                <c:pt idx="5">
                  <c:v>32</c:v>
                </c:pt>
                <c:pt idx="6">
                  <c:v>36</c:v>
                </c:pt>
                <c:pt idx="7">
                  <c:v>36.7</c:v>
                </c:pt>
                <c:pt idx="8">
                  <c:v>40</c:v>
                </c:pt>
                <c:pt idx="9">
                  <c:v>44</c:v>
                </c:pt>
                <c:pt idx="10">
                  <c:v>48</c:v>
                </c:pt>
                <c:pt idx="11">
                  <c:v>52</c:v>
                </c:pt>
                <c:pt idx="12">
                  <c:v>56</c:v>
                </c:pt>
                <c:pt idx="13">
                  <c:v>60</c:v>
                </c:pt>
                <c:pt idx="14">
                  <c:v>64</c:v>
                </c:pt>
                <c:pt idx="15">
                  <c:v>68</c:v>
                </c:pt>
                <c:pt idx="16">
                  <c:v>72</c:v>
                </c:pt>
                <c:pt idx="17">
                  <c:v>76</c:v>
                </c:pt>
                <c:pt idx="18">
                  <c:v>80</c:v>
                </c:pt>
                <c:pt idx="19">
                  <c:v>84</c:v>
                </c:pt>
                <c:pt idx="20">
                  <c:v>88</c:v>
                </c:pt>
                <c:pt idx="21">
                  <c:v>92</c:v>
                </c:pt>
                <c:pt idx="22">
                  <c:v>96</c:v>
                </c:pt>
                <c:pt idx="23">
                  <c:v>100</c:v>
                </c:pt>
                <c:pt idx="24">
                  <c:v>104</c:v>
                </c:pt>
                <c:pt idx="25">
                  <c:v>108</c:v>
                </c:pt>
                <c:pt idx="26">
                  <c:v>110</c:v>
                </c:pt>
                <c:pt idx="27">
                  <c:v>112</c:v>
                </c:pt>
                <c:pt idx="28">
                  <c:v>116</c:v>
                </c:pt>
                <c:pt idx="29">
                  <c:v>120</c:v>
                </c:pt>
                <c:pt idx="30">
                  <c:v>124</c:v>
                </c:pt>
                <c:pt idx="31">
                  <c:v>128</c:v>
                </c:pt>
                <c:pt idx="32">
                  <c:v>132</c:v>
                </c:pt>
                <c:pt idx="33">
                  <c:v>136</c:v>
                </c:pt>
                <c:pt idx="34">
                  <c:v>140</c:v>
                </c:pt>
                <c:pt idx="35">
                  <c:v>144</c:v>
                </c:pt>
                <c:pt idx="36">
                  <c:v>148</c:v>
                </c:pt>
                <c:pt idx="37">
                  <c:v>152</c:v>
                </c:pt>
                <c:pt idx="38">
                  <c:v>156</c:v>
                </c:pt>
                <c:pt idx="39">
                  <c:v>160</c:v>
                </c:pt>
                <c:pt idx="40">
                  <c:v>164</c:v>
                </c:pt>
                <c:pt idx="41">
                  <c:v>168</c:v>
                </c:pt>
                <c:pt idx="42">
                  <c:v>172</c:v>
                </c:pt>
                <c:pt idx="43">
                  <c:v>176</c:v>
                </c:pt>
                <c:pt idx="44">
                  <c:v>180</c:v>
                </c:pt>
              </c:numCache>
            </c:numRef>
          </c:xVal>
          <c:yVal>
            <c:numRef>
              <c:f>Sheet1!$B$2:$B$46</c:f>
              <c:numCache>
                <c:formatCode>General</c:formatCode>
                <c:ptCount val="45"/>
                <c:pt idx="0">
                  <c:v>179.4</c:v>
                </c:pt>
                <c:pt idx="1">
                  <c:v>202.5</c:v>
                </c:pt>
                <c:pt idx="2">
                  <c:v>222.7</c:v>
                </c:pt>
                <c:pt idx="3">
                  <c:v>241</c:v>
                </c:pt>
                <c:pt idx="4">
                  <c:v>257.4</c:v>
                </c:pt>
                <c:pt idx="5">
                  <c:v>272.8</c:v>
                </c:pt>
                <c:pt idx="6">
                  <c:v>287.2</c:v>
                </c:pt>
                <c:pt idx="7">
                  <c:v>289.72</c:v>
                </c:pt>
                <c:pt idx="8">
                  <c:v>301.6</c:v>
                </c:pt>
                <c:pt idx="9">
                  <c:v>314.24</c:v>
                </c:pt>
                <c:pt idx="10">
                  <c:v>326.88</c:v>
                </c:pt>
                <c:pt idx="11">
                  <c:v>338.94</c:v>
                </c:pt>
                <c:pt idx="12">
                  <c:v>350.42</c:v>
                </c:pt>
                <c:pt idx="13">
                  <c:v>361.9</c:v>
                </c:pt>
                <c:pt idx="14">
                  <c:v>372.42</c:v>
                </c:pt>
                <c:pt idx="15">
                  <c:v>382.94</c:v>
                </c:pt>
                <c:pt idx="16">
                  <c:v>393.1</c:v>
                </c:pt>
                <c:pt idx="17">
                  <c:v>402.9</c:v>
                </c:pt>
                <c:pt idx="18">
                  <c:v>412.7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KBR, extrapolated</c:v>
                </c:pt>
              </c:strCache>
            </c:strRef>
          </c:tx>
          <c:spPr>
            <a:solidFill>
              <a:srgbClr val="2A78D6"/>
            </a:solidFill>
            <a:ln w="31750" cap="flat">
              <a:solidFill>
                <a:srgbClr val="2A78D6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xVal>
            <c:numRef>
              <c:f>Sheet1!$A$2:$A$46</c:f>
              <c:numCache>
                <c:formatCode>General</c:formatCode>
                <c:ptCount val="45"/>
                <c:pt idx="0">
                  <c:v>12</c:v>
                </c:pt>
                <c:pt idx="1">
                  <c:v>16</c:v>
                </c:pt>
                <c:pt idx="2">
                  <c:v>20</c:v>
                </c:pt>
                <c:pt idx="3">
                  <c:v>24</c:v>
                </c:pt>
                <c:pt idx="4">
                  <c:v>28</c:v>
                </c:pt>
                <c:pt idx="5">
                  <c:v>32</c:v>
                </c:pt>
                <c:pt idx="6">
                  <c:v>36</c:v>
                </c:pt>
                <c:pt idx="7">
                  <c:v>36.7</c:v>
                </c:pt>
                <c:pt idx="8">
                  <c:v>40</c:v>
                </c:pt>
                <c:pt idx="9">
                  <c:v>44</c:v>
                </c:pt>
                <c:pt idx="10">
                  <c:v>48</c:v>
                </c:pt>
                <c:pt idx="11">
                  <c:v>52</c:v>
                </c:pt>
                <c:pt idx="12">
                  <c:v>56</c:v>
                </c:pt>
                <c:pt idx="13">
                  <c:v>60</c:v>
                </c:pt>
                <c:pt idx="14">
                  <c:v>64</c:v>
                </c:pt>
                <c:pt idx="15">
                  <c:v>68</c:v>
                </c:pt>
                <c:pt idx="16">
                  <c:v>72</c:v>
                </c:pt>
                <c:pt idx="17">
                  <c:v>76</c:v>
                </c:pt>
                <c:pt idx="18">
                  <c:v>80</c:v>
                </c:pt>
                <c:pt idx="19">
                  <c:v>84</c:v>
                </c:pt>
                <c:pt idx="20">
                  <c:v>88</c:v>
                </c:pt>
                <c:pt idx="21">
                  <c:v>92</c:v>
                </c:pt>
                <c:pt idx="22">
                  <c:v>96</c:v>
                </c:pt>
                <c:pt idx="23">
                  <c:v>100</c:v>
                </c:pt>
                <c:pt idx="24">
                  <c:v>104</c:v>
                </c:pt>
                <c:pt idx="25">
                  <c:v>108</c:v>
                </c:pt>
                <c:pt idx="26">
                  <c:v>110</c:v>
                </c:pt>
                <c:pt idx="27">
                  <c:v>112</c:v>
                </c:pt>
                <c:pt idx="28">
                  <c:v>116</c:v>
                </c:pt>
                <c:pt idx="29">
                  <c:v>120</c:v>
                </c:pt>
                <c:pt idx="30">
                  <c:v>124</c:v>
                </c:pt>
                <c:pt idx="31">
                  <c:v>128</c:v>
                </c:pt>
                <c:pt idx="32">
                  <c:v>132</c:v>
                </c:pt>
                <c:pt idx="33">
                  <c:v>136</c:v>
                </c:pt>
                <c:pt idx="34">
                  <c:v>140</c:v>
                </c:pt>
                <c:pt idx="35">
                  <c:v>144</c:v>
                </c:pt>
                <c:pt idx="36">
                  <c:v>148</c:v>
                </c:pt>
                <c:pt idx="37">
                  <c:v>152</c:v>
                </c:pt>
                <c:pt idx="38">
                  <c:v>156</c:v>
                </c:pt>
                <c:pt idx="39">
                  <c:v>160</c:v>
                </c:pt>
                <c:pt idx="40">
                  <c:v>164</c:v>
                </c:pt>
                <c:pt idx="41">
                  <c:v>168</c:v>
                </c:pt>
                <c:pt idx="42">
                  <c:v>172</c:v>
                </c:pt>
                <c:pt idx="43">
                  <c:v>176</c:v>
                </c:pt>
                <c:pt idx="44">
                  <c:v>180</c:v>
                </c:pt>
              </c:numCache>
            </c:numRef>
          </c:xVal>
          <c:yVal>
            <c:numRef>
              <c:f>Sheet1!$C$2:$C$46</c:f>
              <c:numCache>
                <c:formatCode>General</c:formatCode>
                <c:ptCount val="45"/>
                <c:pt idx="18">
                  <c:v>412.7</c:v>
                </c:pt>
                <c:pt idx="19">
                  <c:v>421.94</c:v>
                </c:pt>
                <c:pt idx="20">
                  <c:v>431.18</c:v>
                </c:pt>
                <c:pt idx="21">
                  <c:v>440.18</c:v>
                </c:pt>
                <c:pt idx="22">
                  <c:v>448.94</c:v>
                </c:pt>
                <c:pt idx="23">
                  <c:v>457.7</c:v>
                </c:pt>
                <c:pt idx="24">
                  <c:v>466.02</c:v>
                </c:pt>
                <c:pt idx="25">
                  <c:v>474.34</c:v>
                </c:pt>
                <c:pt idx="26">
                  <c:v>478.5</c:v>
                </c:pt>
                <c:pt idx="27">
                  <c:v>482.48</c:v>
                </c:pt>
                <c:pt idx="28">
                  <c:v>490.44</c:v>
                </c:pt>
                <c:pt idx="29">
                  <c:v>498.4</c:v>
                </c:pt>
                <c:pt idx="30">
                  <c:v>506.08</c:v>
                </c:pt>
                <c:pt idx="31">
                  <c:v>513.76</c:v>
                </c:pt>
                <c:pt idx="32">
                  <c:v>521.28</c:v>
                </c:pt>
                <c:pt idx="33">
                  <c:v>528.64</c:v>
                </c:pt>
                <c:pt idx="34">
                  <c:v>536</c:v>
                </c:pt>
                <c:pt idx="35">
                  <c:v>543.16</c:v>
                </c:pt>
                <c:pt idx="36">
                  <c:v>550.32</c:v>
                </c:pt>
                <c:pt idx="37">
                  <c:v>557.34</c:v>
                </c:pt>
                <c:pt idx="38">
                  <c:v>564.22</c:v>
                </c:pt>
                <c:pt idx="39">
                  <c:v>571.1</c:v>
                </c:pt>
                <c:pt idx="40">
                  <c:v>577.82</c:v>
                </c:pt>
                <c:pt idx="41">
                  <c:v>584.54</c:v>
                </c:pt>
                <c:pt idx="42">
                  <c:v>591.16</c:v>
                </c:pt>
                <c:pt idx="43">
                  <c:v>597.68</c:v>
                </c:pt>
                <c:pt idx="44">
                  <c:v>604.2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Air Liquide, within fee points (36.7–110 ktpa)</c:v>
                </c:pt>
              </c:strCache>
            </c:strRef>
          </c:tx>
          <c:spPr>
            <a:solidFill>
              <a:srgbClr val="4A3AA7"/>
            </a:solidFill>
            <a:ln w="31750" cap="flat">
              <a:solidFill>
                <a:srgbClr val="4A3AA7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4A3AA7"/>
              </a:solidFill>
              <a:ln w="9525" cap="flat">
                <a:solidFill>
                  <a:srgbClr val="4A3AA7"/>
                </a:solidFill>
                <a:prstDash val="solid"/>
                <a:round/>
              </a:ln>
              <a:effectLst/>
            </c:spPr>
          </c:marker>
          <c:xVal>
            <c:numRef>
              <c:f>Sheet1!$A$2:$A$46</c:f>
              <c:numCache>
                <c:formatCode>General</c:formatCode>
                <c:ptCount val="45"/>
                <c:pt idx="0">
                  <c:v>12</c:v>
                </c:pt>
                <c:pt idx="1">
                  <c:v>16</c:v>
                </c:pt>
                <c:pt idx="2">
                  <c:v>20</c:v>
                </c:pt>
                <c:pt idx="3">
                  <c:v>24</c:v>
                </c:pt>
                <c:pt idx="4">
                  <c:v>28</c:v>
                </c:pt>
                <c:pt idx="5">
                  <c:v>32</c:v>
                </c:pt>
                <c:pt idx="6">
                  <c:v>36</c:v>
                </c:pt>
                <c:pt idx="7">
                  <c:v>36.7</c:v>
                </c:pt>
                <c:pt idx="8">
                  <c:v>40</c:v>
                </c:pt>
                <c:pt idx="9">
                  <c:v>44</c:v>
                </c:pt>
                <c:pt idx="10">
                  <c:v>48</c:v>
                </c:pt>
                <c:pt idx="11">
                  <c:v>52</c:v>
                </c:pt>
                <c:pt idx="12">
                  <c:v>56</c:v>
                </c:pt>
                <c:pt idx="13">
                  <c:v>60</c:v>
                </c:pt>
                <c:pt idx="14">
                  <c:v>64</c:v>
                </c:pt>
                <c:pt idx="15">
                  <c:v>68</c:v>
                </c:pt>
                <c:pt idx="16">
                  <c:v>72</c:v>
                </c:pt>
                <c:pt idx="17">
                  <c:v>76</c:v>
                </c:pt>
                <c:pt idx="18">
                  <c:v>80</c:v>
                </c:pt>
                <c:pt idx="19">
                  <c:v>84</c:v>
                </c:pt>
                <c:pt idx="20">
                  <c:v>88</c:v>
                </c:pt>
                <c:pt idx="21">
                  <c:v>92</c:v>
                </c:pt>
                <c:pt idx="22">
                  <c:v>96</c:v>
                </c:pt>
                <c:pt idx="23">
                  <c:v>100</c:v>
                </c:pt>
                <c:pt idx="24">
                  <c:v>104</c:v>
                </c:pt>
                <c:pt idx="25">
                  <c:v>108</c:v>
                </c:pt>
                <c:pt idx="26">
                  <c:v>110</c:v>
                </c:pt>
                <c:pt idx="27">
                  <c:v>112</c:v>
                </c:pt>
                <c:pt idx="28">
                  <c:v>116</c:v>
                </c:pt>
                <c:pt idx="29">
                  <c:v>120</c:v>
                </c:pt>
                <c:pt idx="30">
                  <c:v>124</c:v>
                </c:pt>
                <c:pt idx="31">
                  <c:v>128</c:v>
                </c:pt>
                <c:pt idx="32">
                  <c:v>132</c:v>
                </c:pt>
                <c:pt idx="33">
                  <c:v>136</c:v>
                </c:pt>
                <c:pt idx="34">
                  <c:v>140</c:v>
                </c:pt>
                <c:pt idx="35">
                  <c:v>144</c:v>
                </c:pt>
                <c:pt idx="36">
                  <c:v>148</c:v>
                </c:pt>
                <c:pt idx="37">
                  <c:v>152</c:v>
                </c:pt>
                <c:pt idx="38">
                  <c:v>156</c:v>
                </c:pt>
                <c:pt idx="39">
                  <c:v>160</c:v>
                </c:pt>
                <c:pt idx="40">
                  <c:v>164</c:v>
                </c:pt>
                <c:pt idx="41">
                  <c:v>168</c:v>
                </c:pt>
                <c:pt idx="42">
                  <c:v>172</c:v>
                </c:pt>
                <c:pt idx="43">
                  <c:v>176</c:v>
                </c:pt>
                <c:pt idx="44">
                  <c:v>180</c:v>
                </c:pt>
              </c:numCache>
            </c:numRef>
          </c:xVal>
          <c:yVal>
            <c:numRef>
              <c:f>Sheet1!$D$2:$D$46</c:f>
              <c:numCache>
                <c:formatCode>General</c:formatCode>
                <c:ptCount val="45"/>
                <c:pt idx="7">
                  <c:v>435.519</c:v>
                </c:pt>
                <c:pt idx="8">
                  <c:v>450.88</c:v>
                </c:pt>
                <c:pt idx="9">
                  <c:v>468.508</c:v>
                </c:pt>
                <c:pt idx="10">
                  <c:v>485.192</c:v>
                </c:pt>
                <c:pt idx="11">
                  <c:v>501.057</c:v>
                </c:pt>
                <c:pt idx="12">
                  <c:v>516.199</c:v>
                </c:pt>
                <c:pt idx="13">
                  <c:v>530.701</c:v>
                </c:pt>
                <c:pt idx="14">
                  <c:v>544.628</c:v>
                </c:pt>
                <c:pt idx="15">
                  <c:v>558.037</c:v>
                </c:pt>
                <c:pt idx="16">
                  <c:v>570.976</c:v>
                </c:pt>
                <c:pt idx="17">
                  <c:v>583.486</c:v>
                </c:pt>
                <c:pt idx="18">
                  <c:v>595.601</c:v>
                </c:pt>
                <c:pt idx="19">
                  <c:v>607.355</c:v>
                </c:pt>
                <c:pt idx="20">
                  <c:v>618.772</c:v>
                </c:pt>
                <c:pt idx="21">
                  <c:v>629.878</c:v>
                </c:pt>
                <c:pt idx="22">
                  <c:v>640.693</c:v>
                </c:pt>
                <c:pt idx="23">
                  <c:v>651.238</c:v>
                </c:pt>
                <c:pt idx="24">
                  <c:v>661.528</c:v>
                </c:pt>
                <c:pt idx="25">
                  <c:v>671.579</c:v>
                </c:pt>
                <c:pt idx="26">
                  <c:v>676.52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Air Liquide, extrapolated</c:v>
                </c:pt>
              </c:strCache>
            </c:strRef>
          </c:tx>
          <c:spPr>
            <a:solidFill>
              <a:srgbClr val="4A3AA7"/>
            </a:solidFill>
            <a:ln w="31750" cap="flat">
              <a:solidFill>
                <a:srgbClr val="4A3AA7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4A3AA7"/>
              </a:solidFill>
              <a:ln w="9525" cap="flat">
                <a:solidFill>
                  <a:srgbClr val="4A3AA7"/>
                </a:solidFill>
                <a:prstDash val="solid"/>
                <a:round/>
              </a:ln>
              <a:effectLst/>
            </c:spPr>
          </c:marker>
          <c:xVal>
            <c:numRef>
              <c:f>Sheet1!$A$2:$A$46</c:f>
              <c:numCache>
                <c:formatCode>General</c:formatCode>
                <c:ptCount val="45"/>
                <c:pt idx="0">
                  <c:v>12</c:v>
                </c:pt>
                <c:pt idx="1">
                  <c:v>16</c:v>
                </c:pt>
                <c:pt idx="2">
                  <c:v>20</c:v>
                </c:pt>
                <c:pt idx="3">
                  <c:v>24</c:v>
                </c:pt>
                <c:pt idx="4">
                  <c:v>28</c:v>
                </c:pt>
                <c:pt idx="5">
                  <c:v>32</c:v>
                </c:pt>
                <c:pt idx="6">
                  <c:v>36</c:v>
                </c:pt>
                <c:pt idx="7">
                  <c:v>36.7</c:v>
                </c:pt>
                <c:pt idx="8">
                  <c:v>40</c:v>
                </c:pt>
                <c:pt idx="9">
                  <c:v>44</c:v>
                </c:pt>
                <c:pt idx="10">
                  <c:v>48</c:v>
                </c:pt>
                <c:pt idx="11">
                  <c:v>52</c:v>
                </c:pt>
                <c:pt idx="12">
                  <c:v>56</c:v>
                </c:pt>
                <c:pt idx="13">
                  <c:v>60</c:v>
                </c:pt>
                <c:pt idx="14">
                  <c:v>64</c:v>
                </c:pt>
                <c:pt idx="15">
                  <c:v>68</c:v>
                </c:pt>
                <c:pt idx="16">
                  <c:v>72</c:v>
                </c:pt>
                <c:pt idx="17">
                  <c:v>76</c:v>
                </c:pt>
                <c:pt idx="18">
                  <c:v>80</c:v>
                </c:pt>
                <c:pt idx="19">
                  <c:v>84</c:v>
                </c:pt>
                <c:pt idx="20">
                  <c:v>88</c:v>
                </c:pt>
                <c:pt idx="21">
                  <c:v>92</c:v>
                </c:pt>
                <c:pt idx="22">
                  <c:v>96</c:v>
                </c:pt>
                <c:pt idx="23">
                  <c:v>100</c:v>
                </c:pt>
                <c:pt idx="24">
                  <c:v>104</c:v>
                </c:pt>
                <c:pt idx="25">
                  <c:v>108</c:v>
                </c:pt>
                <c:pt idx="26">
                  <c:v>110</c:v>
                </c:pt>
                <c:pt idx="27">
                  <c:v>112</c:v>
                </c:pt>
                <c:pt idx="28">
                  <c:v>116</c:v>
                </c:pt>
                <c:pt idx="29">
                  <c:v>120</c:v>
                </c:pt>
                <c:pt idx="30">
                  <c:v>124</c:v>
                </c:pt>
                <c:pt idx="31">
                  <c:v>128</c:v>
                </c:pt>
                <c:pt idx="32">
                  <c:v>132</c:v>
                </c:pt>
                <c:pt idx="33">
                  <c:v>136</c:v>
                </c:pt>
                <c:pt idx="34">
                  <c:v>140</c:v>
                </c:pt>
                <c:pt idx="35">
                  <c:v>144</c:v>
                </c:pt>
                <c:pt idx="36">
                  <c:v>148</c:v>
                </c:pt>
                <c:pt idx="37">
                  <c:v>152</c:v>
                </c:pt>
                <c:pt idx="38">
                  <c:v>156</c:v>
                </c:pt>
                <c:pt idx="39">
                  <c:v>160</c:v>
                </c:pt>
                <c:pt idx="40">
                  <c:v>164</c:v>
                </c:pt>
                <c:pt idx="41">
                  <c:v>168</c:v>
                </c:pt>
                <c:pt idx="42">
                  <c:v>172</c:v>
                </c:pt>
                <c:pt idx="43">
                  <c:v>176</c:v>
                </c:pt>
                <c:pt idx="44">
                  <c:v>180</c:v>
                </c:pt>
              </c:numCache>
            </c:numRef>
          </c:xVal>
          <c:yVal>
            <c:numRef>
              <c:f>Sheet1!$E$2:$E$46</c:f>
              <c:numCache>
                <c:formatCode>General</c:formatCode>
                <c:ptCount val="45"/>
                <c:pt idx="0">
                  <c:v>277.371</c:v>
                </c:pt>
                <c:pt idx="1">
                  <c:v>311.575</c:v>
                </c:pt>
                <c:pt idx="2">
                  <c:v>340.959</c:v>
                </c:pt>
                <c:pt idx="3">
                  <c:v>366.994</c:v>
                </c:pt>
                <c:pt idx="4">
                  <c:v>390.535</c:v>
                </c:pt>
                <c:pt idx="5">
                  <c:v>412.13</c:v>
                </c:pt>
                <c:pt idx="6">
                  <c:v>432.155</c:v>
                </c:pt>
                <c:pt idx="7">
                  <c:v>435.519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Air Liquide, extrapolated (above 110)</c:v>
                </c:pt>
              </c:strCache>
            </c:strRef>
          </c:tx>
          <c:spPr>
            <a:solidFill>
              <a:srgbClr val="4A3AA7"/>
            </a:solidFill>
            <a:ln w="31750" cap="flat">
              <a:solidFill>
                <a:srgbClr val="4A3AA7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rgbClr val="4A3AA7"/>
              </a:solidFill>
              <a:ln w="9525" cap="flat">
                <a:solidFill>
                  <a:srgbClr val="4A3AA7"/>
                </a:solidFill>
                <a:prstDash val="solid"/>
                <a:round/>
              </a:ln>
              <a:effectLst/>
            </c:spPr>
          </c:marker>
          <c:xVal>
            <c:numRef>
              <c:f>Sheet1!$A$2:$A$46</c:f>
              <c:numCache>
                <c:formatCode>General</c:formatCode>
                <c:ptCount val="45"/>
                <c:pt idx="0">
                  <c:v>12</c:v>
                </c:pt>
                <c:pt idx="1">
                  <c:v>16</c:v>
                </c:pt>
                <c:pt idx="2">
                  <c:v>20</c:v>
                </c:pt>
                <c:pt idx="3">
                  <c:v>24</c:v>
                </c:pt>
                <c:pt idx="4">
                  <c:v>28</c:v>
                </c:pt>
                <c:pt idx="5">
                  <c:v>32</c:v>
                </c:pt>
                <c:pt idx="6">
                  <c:v>36</c:v>
                </c:pt>
                <c:pt idx="7">
                  <c:v>36.7</c:v>
                </c:pt>
                <c:pt idx="8">
                  <c:v>40</c:v>
                </c:pt>
                <c:pt idx="9">
                  <c:v>44</c:v>
                </c:pt>
                <c:pt idx="10">
                  <c:v>48</c:v>
                </c:pt>
                <c:pt idx="11">
                  <c:v>52</c:v>
                </c:pt>
                <c:pt idx="12">
                  <c:v>56</c:v>
                </c:pt>
                <c:pt idx="13">
                  <c:v>60</c:v>
                </c:pt>
                <c:pt idx="14">
                  <c:v>64</c:v>
                </c:pt>
                <c:pt idx="15">
                  <c:v>68</c:v>
                </c:pt>
                <c:pt idx="16">
                  <c:v>72</c:v>
                </c:pt>
                <c:pt idx="17">
                  <c:v>76</c:v>
                </c:pt>
                <c:pt idx="18">
                  <c:v>80</c:v>
                </c:pt>
                <c:pt idx="19">
                  <c:v>84</c:v>
                </c:pt>
                <c:pt idx="20">
                  <c:v>88</c:v>
                </c:pt>
                <c:pt idx="21">
                  <c:v>92</c:v>
                </c:pt>
                <c:pt idx="22">
                  <c:v>96</c:v>
                </c:pt>
                <c:pt idx="23">
                  <c:v>100</c:v>
                </c:pt>
                <c:pt idx="24">
                  <c:v>104</c:v>
                </c:pt>
                <c:pt idx="25">
                  <c:v>108</c:v>
                </c:pt>
                <c:pt idx="26">
                  <c:v>110</c:v>
                </c:pt>
                <c:pt idx="27">
                  <c:v>112</c:v>
                </c:pt>
                <c:pt idx="28">
                  <c:v>116</c:v>
                </c:pt>
                <c:pt idx="29">
                  <c:v>120</c:v>
                </c:pt>
                <c:pt idx="30">
                  <c:v>124</c:v>
                </c:pt>
                <c:pt idx="31">
                  <c:v>128</c:v>
                </c:pt>
                <c:pt idx="32">
                  <c:v>132</c:v>
                </c:pt>
                <c:pt idx="33">
                  <c:v>136</c:v>
                </c:pt>
                <c:pt idx="34">
                  <c:v>140</c:v>
                </c:pt>
                <c:pt idx="35">
                  <c:v>144</c:v>
                </c:pt>
                <c:pt idx="36">
                  <c:v>148</c:v>
                </c:pt>
                <c:pt idx="37">
                  <c:v>152</c:v>
                </c:pt>
                <c:pt idx="38">
                  <c:v>156</c:v>
                </c:pt>
                <c:pt idx="39">
                  <c:v>160</c:v>
                </c:pt>
                <c:pt idx="40">
                  <c:v>164</c:v>
                </c:pt>
                <c:pt idx="41">
                  <c:v>168</c:v>
                </c:pt>
                <c:pt idx="42">
                  <c:v>172</c:v>
                </c:pt>
                <c:pt idx="43">
                  <c:v>176</c:v>
                </c:pt>
                <c:pt idx="44">
                  <c:v>180</c:v>
                </c:pt>
              </c:numCache>
            </c:numRef>
          </c:xVal>
          <c:yVal>
            <c:numRef>
              <c:f>Sheet1!$F$2:$F$46</c:f>
              <c:numCache>
                <c:formatCode>General</c:formatCode>
                <c:ptCount val="45"/>
                <c:pt idx="26">
                  <c:v>676.52</c:v>
                </c:pt>
                <c:pt idx="27">
                  <c:v>681.406</c:v>
                </c:pt>
                <c:pt idx="28">
                  <c:v>691.02</c:v>
                </c:pt>
                <c:pt idx="29">
                  <c:v>700.434</c:v>
                </c:pt>
                <c:pt idx="30">
                  <c:v>709.658</c:v>
                </c:pt>
                <c:pt idx="31">
                  <c:v>718.701</c:v>
                </c:pt>
                <c:pt idx="32">
                  <c:v>727.573</c:v>
                </c:pt>
                <c:pt idx="33">
                  <c:v>736.282</c:v>
                </c:pt>
                <c:pt idx="34">
                  <c:v>744.835</c:v>
                </c:pt>
                <c:pt idx="35">
                  <c:v>753.24</c:v>
                </c:pt>
                <c:pt idx="36">
                  <c:v>761.502</c:v>
                </c:pt>
                <c:pt idx="37">
                  <c:v>769.629</c:v>
                </c:pt>
                <c:pt idx="38">
                  <c:v>777.625</c:v>
                </c:pt>
                <c:pt idx="39">
                  <c:v>785.496</c:v>
                </c:pt>
                <c:pt idx="40">
                  <c:v>793.247</c:v>
                </c:pt>
                <c:pt idx="41">
                  <c:v>800.882</c:v>
                </c:pt>
                <c:pt idx="42">
                  <c:v>808.407</c:v>
                </c:pt>
                <c:pt idx="43">
                  <c:v>815.824</c:v>
                </c:pt>
                <c:pt idx="44">
                  <c:v>823.138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KBR at 24 / 80 / 160 ktpa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  <a:effectLst/>
          </c:spPr>
          <c:marker>
            <c:symbol val="circle"/>
            <c:size val="10"/>
            <c:spPr>
              <a:solidFill>
                <a:srgbClr val="2A78D6"/>
              </a:solidFill>
              <a:ln w="2857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</c:dLbls>
          <c:xVal>
            <c:numRef>
              <c:f>Sheet1!$A$2:$A$46</c:f>
              <c:numCache>
                <c:formatCode>General</c:formatCode>
                <c:ptCount val="45"/>
                <c:pt idx="0">
                  <c:v>12</c:v>
                </c:pt>
                <c:pt idx="1">
                  <c:v>16</c:v>
                </c:pt>
                <c:pt idx="2">
                  <c:v>20</c:v>
                </c:pt>
                <c:pt idx="3">
                  <c:v>24</c:v>
                </c:pt>
                <c:pt idx="4">
                  <c:v>28</c:v>
                </c:pt>
                <c:pt idx="5">
                  <c:v>32</c:v>
                </c:pt>
                <c:pt idx="6">
                  <c:v>36</c:v>
                </c:pt>
                <c:pt idx="7">
                  <c:v>36.7</c:v>
                </c:pt>
                <c:pt idx="8">
                  <c:v>40</c:v>
                </c:pt>
                <c:pt idx="9">
                  <c:v>44</c:v>
                </c:pt>
                <c:pt idx="10">
                  <c:v>48</c:v>
                </c:pt>
                <c:pt idx="11">
                  <c:v>52</c:v>
                </c:pt>
                <c:pt idx="12">
                  <c:v>56</c:v>
                </c:pt>
                <c:pt idx="13">
                  <c:v>60</c:v>
                </c:pt>
                <c:pt idx="14">
                  <c:v>64</c:v>
                </c:pt>
                <c:pt idx="15">
                  <c:v>68</c:v>
                </c:pt>
                <c:pt idx="16">
                  <c:v>72</c:v>
                </c:pt>
                <c:pt idx="17">
                  <c:v>76</c:v>
                </c:pt>
                <c:pt idx="18">
                  <c:v>80</c:v>
                </c:pt>
                <c:pt idx="19">
                  <c:v>84</c:v>
                </c:pt>
                <c:pt idx="20">
                  <c:v>88</c:v>
                </c:pt>
                <c:pt idx="21">
                  <c:v>92</c:v>
                </c:pt>
                <c:pt idx="22">
                  <c:v>96</c:v>
                </c:pt>
                <c:pt idx="23">
                  <c:v>100</c:v>
                </c:pt>
                <c:pt idx="24">
                  <c:v>104</c:v>
                </c:pt>
                <c:pt idx="25">
                  <c:v>108</c:v>
                </c:pt>
                <c:pt idx="26">
                  <c:v>110</c:v>
                </c:pt>
                <c:pt idx="27">
                  <c:v>112</c:v>
                </c:pt>
                <c:pt idx="28">
                  <c:v>116</c:v>
                </c:pt>
                <c:pt idx="29">
                  <c:v>120</c:v>
                </c:pt>
                <c:pt idx="30">
                  <c:v>124</c:v>
                </c:pt>
                <c:pt idx="31">
                  <c:v>128</c:v>
                </c:pt>
                <c:pt idx="32">
                  <c:v>132</c:v>
                </c:pt>
                <c:pt idx="33">
                  <c:v>136</c:v>
                </c:pt>
                <c:pt idx="34">
                  <c:v>140</c:v>
                </c:pt>
                <c:pt idx="35">
                  <c:v>144</c:v>
                </c:pt>
                <c:pt idx="36">
                  <c:v>148</c:v>
                </c:pt>
                <c:pt idx="37">
                  <c:v>152</c:v>
                </c:pt>
                <c:pt idx="38">
                  <c:v>156</c:v>
                </c:pt>
                <c:pt idx="39">
                  <c:v>160</c:v>
                </c:pt>
                <c:pt idx="40">
                  <c:v>164</c:v>
                </c:pt>
                <c:pt idx="41">
                  <c:v>168</c:v>
                </c:pt>
                <c:pt idx="42">
                  <c:v>172</c:v>
                </c:pt>
                <c:pt idx="43">
                  <c:v>176</c:v>
                </c:pt>
                <c:pt idx="44">
                  <c:v>180</c:v>
                </c:pt>
              </c:numCache>
            </c:numRef>
          </c:xVal>
          <c:yVal>
            <c:numRef>
              <c:f>Sheet1!$G$2:$G$46</c:f>
              <c:numCache>
                <c:formatCode>General</c:formatCode>
                <c:ptCount val="45"/>
                <c:pt idx="3">
                  <c:v>241</c:v>
                </c:pt>
                <c:pt idx="18">
                  <c:v>412.7</c:v>
                </c:pt>
                <c:pt idx="39">
                  <c:v>571.1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Air Liquide at 24 / 80 / 160 ktpa</c:v>
                </c:pt>
              </c:strCache>
            </c:strRef>
          </c:tx>
          <c:spPr>
            <a:solidFill>
              <a:srgbClr val="4A3AA7"/>
            </a:solidFill>
            <a:ln>
              <a:noFill/>
            </a:ln>
            <a:effectLst/>
          </c:spPr>
          <c:marker>
            <c:symbol val="circle"/>
            <c:size val="10"/>
            <c:spPr>
              <a:solidFill>
                <a:srgbClr val="4A3AA7"/>
              </a:solidFill>
              <a:ln w="2857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1F2933"/>
                    </a:solidFill>
                    <a:latin typeface="+mn-l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xVal>
            <c:numRef>
              <c:f>Sheet1!$A$2:$A$46</c:f>
              <c:numCache>
                <c:formatCode>General</c:formatCode>
                <c:ptCount val="45"/>
                <c:pt idx="0">
                  <c:v>12</c:v>
                </c:pt>
                <c:pt idx="1">
                  <c:v>16</c:v>
                </c:pt>
                <c:pt idx="2">
                  <c:v>20</c:v>
                </c:pt>
                <c:pt idx="3">
                  <c:v>24</c:v>
                </c:pt>
                <c:pt idx="4">
                  <c:v>28</c:v>
                </c:pt>
                <c:pt idx="5">
                  <c:v>32</c:v>
                </c:pt>
                <c:pt idx="6">
                  <c:v>36</c:v>
                </c:pt>
                <c:pt idx="7">
                  <c:v>36.7</c:v>
                </c:pt>
                <c:pt idx="8">
                  <c:v>40</c:v>
                </c:pt>
                <c:pt idx="9">
                  <c:v>44</c:v>
                </c:pt>
                <c:pt idx="10">
                  <c:v>48</c:v>
                </c:pt>
                <c:pt idx="11">
                  <c:v>52</c:v>
                </c:pt>
                <c:pt idx="12">
                  <c:v>56</c:v>
                </c:pt>
                <c:pt idx="13">
                  <c:v>60</c:v>
                </c:pt>
                <c:pt idx="14">
                  <c:v>64</c:v>
                </c:pt>
                <c:pt idx="15">
                  <c:v>68</c:v>
                </c:pt>
                <c:pt idx="16">
                  <c:v>72</c:v>
                </c:pt>
                <c:pt idx="17">
                  <c:v>76</c:v>
                </c:pt>
                <c:pt idx="18">
                  <c:v>80</c:v>
                </c:pt>
                <c:pt idx="19">
                  <c:v>84</c:v>
                </c:pt>
                <c:pt idx="20">
                  <c:v>88</c:v>
                </c:pt>
                <c:pt idx="21">
                  <c:v>92</c:v>
                </c:pt>
                <c:pt idx="22">
                  <c:v>96</c:v>
                </c:pt>
                <c:pt idx="23">
                  <c:v>100</c:v>
                </c:pt>
                <c:pt idx="24">
                  <c:v>104</c:v>
                </c:pt>
                <c:pt idx="25">
                  <c:v>108</c:v>
                </c:pt>
                <c:pt idx="26">
                  <c:v>110</c:v>
                </c:pt>
                <c:pt idx="27">
                  <c:v>112</c:v>
                </c:pt>
                <c:pt idx="28">
                  <c:v>116</c:v>
                </c:pt>
                <c:pt idx="29">
                  <c:v>120</c:v>
                </c:pt>
                <c:pt idx="30">
                  <c:v>124</c:v>
                </c:pt>
                <c:pt idx="31">
                  <c:v>128</c:v>
                </c:pt>
                <c:pt idx="32">
                  <c:v>132</c:v>
                </c:pt>
                <c:pt idx="33">
                  <c:v>136</c:v>
                </c:pt>
                <c:pt idx="34">
                  <c:v>140</c:v>
                </c:pt>
                <c:pt idx="35">
                  <c:v>144</c:v>
                </c:pt>
                <c:pt idx="36">
                  <c:v>148</c:v>
                </c:pt>
                <c:pt idx="37">
                  <c:v>152</c:v>
                </c:pt>
                <c:pt idx="38">
                  <c:v>156</c:v>
                </c:pt>
                <c:pt idx="39">
                  <c:v>160</c:v>
                </c:pt>
                <c:pt idx="40">
                  <c:v>164</c:v>
                </c:pt>
                <c:pt idx="41">
                  <c:v>168</c:v>
                </c:pt>
                <c:pt idx="42">
                  <c:v>172</c:v>
                </c:pt>
                <c:pt idx="43">
                  <c:v>176</c:v>
                </c:pt>
                <c:pt idx="44">
                  <c:v>180</c:v>
                </c:pt>
              </c:numCache>
            </c:numRef>
          </c:xVal>
          <c:yVal>
            <c:numRef>
              <c:f>Sheet1!$H$2:$H$46</c:f>
              <c:numCache>
                <c:formatCode>General</c:formatCode>
                <c:ptCount val="45"/>
                <c:pt idx="3">
                  <c:v>366.994</c:v>
                </c:pt>
                <c:pt idx="18">
                  <c:v>595.601</c:v>
                </c:pt>
                <c:pt idx="39">
                  <c:v>785.496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8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+mn-lt"/>
                  </a:rPr>
                  <a:t>H₂ capacity, ktpa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20"/>
      </c:valAx>
      <c:valAx>
        <c:axId val="2094734552"/>
        <c:scaling>
          <c:orientation val="minMax"/>
          <c:max val="900"/>
          <c:min val="100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2514E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2514E"/>
                    </a:solidFill>
                    <a:latin typeface="+mn-lt"/>
                  </a:rPr>
                  <a:t>CAPEX, MM USD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100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egendEntry>
        <c:idx val="5"/>
        <c:delete val="1"/>
      </c:legendEntry>
      <c:legendEntry>
        <c:idx val="6"/>
        <c:delete val="1"/>
      </c:legendEntry>
      <c:overlay val="0"/>
      <c:txPr>
        <a:bodyPr/>
        <a:lstStyle/>
        <a:p>
          <a:pPr>
            <a:defRPr sz="1100">
              <a:solidFill>
                <a:srgbClr val="5251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KBR ISBL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24 ktpa KBR</c:v>
                  </c:pt>
                  <c:pt idx="1">
                    <c:v>24 ktpa AL*</c:v>
                  </c:pt>
                  <c:pt idx="2">
                    <c:v>80 ktpa KBR</c:v>
                  </c:pt>
                  <c:pt idx="3">
                    <c:v>80 ktpa AL</c:v>
                  </c:pt>
                  <c:pt idx="4">
                    <c:v>160 ktpa KBR*</c:v>
                  </c:pt>
                  <c:pt idx="5">
                    <c:v>160 ktpa AL*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111.2</c:v>
                </c:pt>
                <c:pt idx="1">
                  <c:v>0</c:v>
                </c:pt>
                <c:pt idx="2">
                  <c:v>208</c:v>
                </c:pt>
                <c:pt idx="3">
                  <c:v>0</c:v>
                </c:pt>
                <c:pt idx="4">
                  <c:v>298.5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KBR OSBL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24 ktpa KBR</c:v>
                  </c:pt>
                  <c:pt idx="1">
                    <c:v>24 ktpa AL*</c:v>
                  </c:pt>
                  <c:pt idx="2">
                    <c:v>80 ktpa KBR</c:v>
                  </c:pt>
                  <c:pt idx="3">
                    <c:v>80 ktpa AL</c:v>
                  </c:pt>
                  <c:pt idx="4">
                    <c:v>160 ktpa KBR*</c:v>
                  </c:pt>
                  <c:pt idx="5">
                    <c:v>160 ktpa AL*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52.4</c:v>
                </c:pt>
                <c:pt idx="1">
                  <c:v>0</c:v>
                </c:pt>
                <c:pt idx="2">
                  <c:v>71.6</c:v>
                </c:pt>
                <c:pt idx="3">
                  <c:v>0</c:v>
                </c:pt>
                <c:pt idx="4">
                  <c:v>85.7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KBR other CAPEX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24 ktpa KBR</c:v>
                  </c:pt>
                  <c:pt idx="1">
                    <c:v>24 ktpa AL*</c:v>
                  </c:pt>
                  <c:pt idx="2">
                    <c:v>80 ktpa KBR</c:v>
                  </c:pt>
                  <c:pt idx="3">
                    <c:v>80 ktpa AL</c:v>
                  </c:pt>
                  <c:pt idx="4">
                    <c:v>160 ktpa KBR*</c:v>
                  </c:pt>
                  <c:pt idx="5">
                    <c:v>160 ktpa AL*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77.4</c:v>
                </c:pt>
                <c:pt idx="1">
                  <c:v>0</c:v>
                </c:pt>
                <c:pt idx="2">
                  <c:v>133.1</c:v>
                </c:pt>
                <c:pt idx="3">
                  <c:v>0</c:v>
                </c:pt>
                <c:pt idx="4">
                  <c:v>186.9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Air Liquide implied CAPEX</c:v>
                </c:pt>
              </c:strCache>
            </c:strRef>
          </c:tx>
          <c:spPr>
            <a:solidFill>
              <a:srgbClr val="4A3AA7"/>
            </a:solidFill>
            <a:effectLst/>
          </c:spPr>
          <c:invertIfNegative val="0"/>
          <c:dLbls>
            <c:delete val="1"/>
          </c:dLbls>
          <c:cat>
            <c:multiLvlStrRef>
              <c:f>Sheet1!$A$2:$A$7</c:f>
              <c:multiLvlStrCache>
                <c:ptCount val="6"/>
                <c:lvl>
                  <c:pt idx="0">
                    <c:v>24 ktpa KBR</c:v>
                  </c:pt>
                  <c:pt idx="1">
                    <c:v>24 ktpa AL*</c:v>
                  </c:pt>
                  <c:pt idx="2">
                    <c:v>80 ktpa KBR</c:v>
                  </c:pt>
                  <c:pt idx="3">
                    <c:v>80 ktpa AL</c:v>
                  </c:pt>
                  <c:pt idx="4">
                    <c:v>160 ktpa KBR*</c:v>
                  </c:pt>
                  <c:pt idx="5">
                    <c:v>160 ktpa AL*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</c:v>
                </c:pt>
                <c:pt idx="1">
                  <c:v>366.994</c:v>
                </c:pt>
                <c:pt idx="2">
                  <c:v>0</c:v>
                </c:pt>
                <c:pt idx="3">
                  <c:v>595.601</c:v>
                </c:pt>
                <c:pt idx="4">
                  <c:v>0</c:v>
                </c:pt>
                <c:pt idx="5">
                  <c:v>785.496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1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lineChart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1F2933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2933"/>
              </a:solidFill>
              <a:ln w="9525" cap="flat">
                <a:solidFill>
                  <a:srgbClr val="1F29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24 ktpa KBR</c:v>
                  </c:pt>
                  <c:pt idx="1">
                    <c:v>24 ktpa AL*</c:v>
                  </c:pt>
                  <c:pt idx="2">
                    <c:v>80 ktpa KBR</c:v>
                  </c:pt>
                  <c:pt idx="3">
                    <c:v>80 ktpa AL</c:v>
                  </c:pt>
                  <c:pt idx="4">
                    <c:v>160 ktpa KBR*</c:v>
                  </c:pt>
                  <c:pt idx="5">
                    <c:v>160 ktpa AL*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241</c:v>
                </c:pt>
                <c:pt idx="1">
                  <c:v>366.994</c:v>
                </c:pt>
                <c:pt idx="2">
                  <c:v>412.7</c:v>
                </c:pt>
                <c:pt idx="3">
                  <c:v>595.601</c:v>
                </c:pt>
                <c:pt idx="4">
                  <c:v>571.1</c:v>
                </c:pt>
                <c:pt idx="5">
                  <c:v>785.496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F2933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0"/>
          <c:min val="0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overlay val="0"/>
      <c:txPr>
        <a:bodyPr/>
        <a:lstStyle/>
        <a:p>
          <a:pPr>
            <a:defRPr sz="1100">
              <a:solidFill>
                <a:srgbClr val="5251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KBR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24 ktpa</c:v>
                  </c:pt>
                  <c:pt idx="1">
                    <c:v>80 ktpa</c:v>
                  </c:pt>
                  <c:pt idx="2">
                    <c:v>160 ktpa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10042</c:v>
                </c:pt>
                <c:pt idx="1">
                  <c:v>5159</c:v>
                </c:pt>
                <c:pt idx="2">
                  <c:v>3569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Air Liquide</c:v>
                </c:pt>
              </c:strCache>
            </c:strRef>
          </c:tx>
          <c:spPr>
            <a:solidFill>
              <a:srgbClr val="4A3A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24 ktpa</c:v>
                  </c:pt>
                  <c:pt idx="1">
                    <c:v>80 ktpa</c:v>
                  </c:pt>
                  <c:pt idx="2">
                    <c:v>160 ktpa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15291</c:v>
                </c:pt>
                <c:pt idx="1">
                  <c:v>7445</c:v>
                </c:pt>
                <c:pt idx="2">
                  <c:v>4909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00"/>
          <c:min val="0"/>
        </c:scaling>
        <c:delete val="0"/>
        <c:axPos val="l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30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2514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KBR CAPEX = ISBL (power-law fit to KBR §4.1) + OSBL (KBR total derived from its LCOH, minus ISBL) + other CAPEX (Gentari assumptions). Air Liquide = (yearly fee − licence) ÷ (CRF 9 %/20 yr + 3 % O&amp;M), converted at 1.1448 USD/EUR. Chart data can be edited via Edit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Curve data is on the chart's Edit Data sheet. KBR points are sampled from the cracker model at 4 ktpa steps; Air Liquide is the fee power law.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Totals above the stacked bars are a hidden-line series ('Total') so the chart stays fully editable. Edit the numbers via Edit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nh3-cracker-design.html model and docs/cracker-model-notes.md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Ammonia cracker CAPEX · KBR H2ACT® vs Air Liquide implied · overnight, MM USD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At 80 ktpa, KBR CAPEX is $413M; Air Liquide's implied CAPEX is 1.44× higher</a:t>
            </a:r>
            <a:endParaRPr lang="en-US" sz="3000" dirty="0"/>
          </a:p>
        </p:txBody>
      </p:sp>
      <p:graphicFrame>
        <p:nvGraphicFramePr>
          <p:cNvPr id="3" name="CAPEX breakdown chart" descr=""/>
          <p:cNvGraphicFramePr/>
          <p:nvPr/>
        </p:nvGraphicFramePr>
        <p:xfrm>
          <a:off x="548640" y="1417320"/>
          <a:ext cx="70408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"/>
          <p:cNvSpPr/>
          <p:nvPr/>
        </p:nvSpPr>
        <p:spPr>
          <a:xfrm>
            <a:off x="8046720" y="1463040"/>
            <a:ext cx="3566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Stat value"/>
          <p:cNvSpPr txBox="1"/>
          <p:nvPr/>
        </p:nvSpPr>
        <p:spPr>
          <a:xfrm>
            <a:off x="8275320" y="157276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$413M</a:t>
            </a:r>
            <a:endParaRPr lang="en-US" sz="3600" dirty="0"/>
          </a:p>
        </p:txBody>
      </p:sp>
      <p:sp>
        <p:nvSpPr>
          <p:cNvPr id="6" name="Stat label"/>
          <p:cNvSpPr txBox="1"/>
          <p:nvPr/>
        </p:nvSpPr>
        <p:spPr>
          <a:xfrm>
            <a:off x="8275320" y="217627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ISBL 208 + OSBL 72 + other CAPEX 133</a:t>
            </a:r>
            <a:endParaRPr lang="en-US" sz="1400" dirty="0"/>
          </a:p>
        </p:txBody>
      </p:sp>
      <p:sp>
        <p:nvSpPr>
          <p:cNvPr id="7" name="Stat card"/>
          <p:cNvSpPr/>
          <p:nvPr/>
        </p:nvSpPr>
        <p:spPr>
          <a:xfrm>
            <a:off x="8046720" y="2926080"/>
            <a:ext cx="3566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Stat value"/>
          <p:cNvSpPr txBox="1"/>
          <p:nvPr/>
        </p:nvSpPr>
        <p:spPr>
          <a:xfrm>
            <a:off x="8275320" y="30358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$596M</a:t>
            </a:r>
            <a:endParaRPr lang="en-US" sz="3600" dirty="0"/>
          </a:p>
        </p:txBody>
      </p:sp>
      <p:sp>
        <p:nvSpPr>
          <p:cNvPr id="9" name="Stat label"/>
          <p:cNvSpPr txBox="1"/>
          <p:nvPr/>
        </p:nvSpPr>
        <p:spPr>
          <a:xfrm>
            <a:off x="8275320" y="363931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Air Liquide implied CAPEX, from the yearly tolling fee</a:t>
            </a:r>
            <a:endParaRPr lang="en-US" sz="1400" dirty="0"/>
          </a:p>
        </p:txBody>
      </p:sp>
      <p:sp>
        <p:nvSpPr>
          <p:cNvPr id="10" name="Stat card"/>
          <p:cNvSpPr/>
          <p:nvPr/>
        </p:nvSpPr>
        <p:spPr>
          <a:xfrm>
            <a:off x="8046720" y="4389120"/>
            <a:ext cx="35661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1" name="Stat value"/>
          <p:cNvSpPr txBox="1"/>
          <p:nvPr/>
        </p:nvSpPr>
        <p:spPr>
          <a:xfrm>
            <a:off x="8275320" y="44988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1.44×</a:t>
            </a:r>
            <a:endParaRPr lang="en-US" sz="3600" dirty="0"/>
          </a:p>
        </p:txBody>
      </p:sp>
      <p:sp>
        <p:nvSpPr>
          <p:cNvPr id="12" name="Stat label"/>
          <p:cNvSpPr txBox="1"/>
          <p:nvPr/>
        </p:nvSpPr>
        <p:spPr>
          <a:xfrm>
            <a:off x="8275320" y="5102352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Air Liquide ÷ KBR, a gap of $183M</a:t>
            </a:r>
            <a:endParaRPr lang="en-US" sz="1400" dirty="0"/>
          </a:p>
        </p:txBody>
      </p:sp>
      <p:sp>
        <p:nvSpPr>
          <p:cNvPr id="13" name="Footnote"/>
          <p:cNvSpPr txBox="1"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Basis: 80 ktpa H₂, 350 stream days, natural gas main fuel 6.5 t NH₃/t H₂; NH₃ 687 USD/t, power 140 USD/MWh, gas 13 USD/MMBtu. Other CAPEX = start-up, spares, catalyst, licence, owner's costs 7.5 %, contingency 25 %, escalation 3 %/yr × 2 yr. KBR is Class V (±50 %) and excludes Terminal &amp; Storage, land, taxes and IDC. Air Liquide is implied from a yearly tolling fee that includes operator return, a different basis; indicative only.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Each added ktpa costs less at scale: KBR falls from $3.07M to $1.98M per ktpa between steps</a:t>
            </a:r>
            <a:endParaRPr lang="en-US" sz="3000" dirty="0"/>
          </a:p>
        </p:txBody>
      </p:sp>
      <p:graphicFrame>
        <p:nvGraphicFramePr>
          <p:cNvPr id="3" name="CAPEX curves chart" descr=""/>
          <p:cNvGraphicFramePr/>
          <p:nvPr/>
        </p:nvGraphicFramePr>
        <p:xfrm>
          <a:off x="548640" y="1417320"/>
          <a:ext cx="72237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04672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Step change, MM USD (per added ktpa)</a:t>
            </a:r>
            <a:endParaRPr lang="en-US" sz="1400" dirty="0"/>
          </a:p>
        </p:txBody>
      </p:sp>
      <p:graphicFrame>
        <p:nvGraphicFramePr>
          <p:cNvPr id="3" name="Step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783080"/>
          <a:ext cx="35661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211580"/>
                <a:gridCol w="12115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KBR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Air Liquide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24 → 80 ktpa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+172  (3.07/ktpa)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+229  (4.08/ktpa)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80 → 160 ktpa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+158  (1.98/ktpa)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+190  (2.37/ktpa)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046720" y="3337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CAPEX level, MM USD</a:t>
            </a:r>
            <a:endParaRPr lang="en-US" sz="1400" dirty="0"/>
          </a:p>
        </p:txBody>
      </p:sp>
      <p:graphicFrame>
        <p:nvGraphicFramePr>
          <p:cNvPr id="5" name="Leve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3703320"/>
          <a:ext cx="35661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868680"/>
                <a:gridCol w="8686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ktpa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KBR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AL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AL − KBR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241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367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+126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80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413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596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+183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</a:rPr>
                        <a:t>160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571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785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</a:rPr>
                        <a:t>+214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Footnote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Basis as on the previous slide. KBR: ISBL + OSBL + other CAPEX, published for 12–80 ktpa; 160 ktpa is extrapolated and KBR gives no train-split rule. Air Liquide: fee power law through €53.4M at 36.7 ktpa and €83.4M at 110 ktpa; 24 and 160 ktpa are outside that range. Per ktpa = step change ÷ added capacity.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Scale cuts KBR specific CAPEX 2.8× from 24 to 160 ktpa; Air Liquide stays 1.38–1.52× KBR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Total CAPEX, MM USD</a:t>
            </a:r>
            <a:endParaRPr lang="en-US" sz="1400" dirty="0"/>
          </a:p>
        </p:txBody>
      </p:sp>
      <p:graphicFrame>
        <p:nvGraphicFramePr>
          <p:cNvPr id="4" name="Total CAPEX chart" descr=""/>
          <p:cNvGraphicFramePr/>
          <p:nvPr/>
        </p:nvGraphicFramePr>
        <p:xfrm>
          <a:off x="548640" y="1691640"/>
          <a:ext cx="71323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9552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Specific CAPEX, USD per t/yr of H₂</a:t>
            </a:r>
            <a:endParaRPr lang="en-US" sz="1400" dirty="0"/>
          </a:p>
        </p:txBody>
      </p:sp>
      <p:graphicFrame>
        <p:nvGraphicFramePr>
          <p:cNvPr id="6" name="Specific CAPEX chart" descr=""/>
          <p:cNvGraphicFramePr/>
          <p:nvPr/>
        </p:nvGraphicFramePr>
        <p:xfrm>
          <a:off x="7955280" y="1691640"/>
          <a:ext cx="3657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Footnote"/>
          <p:cNvSpPr txBox="1"/>
          <p:nvPr/>
        </p:nvSpPr>
        <p:spPr>
          <a:xfrm>
            <a:off x="548640" y="5852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* Extrapolated beyond source data: KBR publishes 12–80 ktpa; the Air Liquide fee points span 36.7–110 ktpa. Same basis as slide 1. Air Liquide: (fee − licence) ÷ (CRF 9 %, 20 yr + 3 % O&amp;M); the fee includes operator return, a different basis from KBR.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Basis and assumptions behind the numbers</a:t>
            </a:r>
            <a:endParaRPr lang="en-US" sz="3000" dirty="0"/>
          </a:p>
        </p:txBody>
      </p:sp>
      <p:sp>
        <p:nvSpPr>
          <p:cNvPr id="3" name="KBR H2ACT® card"/>
          <p:cNvSpPr/>
          <p:nvPr/>
        </p:nvSpPr>
        <p:spPr>
          <a:xfrm>
            <a:off x="548640" y="1371600"/>
            <a:ext cx="544068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KBR H2ACT®</a:t>
            </a:r>
            <a:endParaRPr lang="en-US" sz="2000" dirty="0"/>
          </a:p>
        </p:txBody>
      </p:sp>
      <p:sp>
        <p:nvSpPr>
          <p:cNvPr id="5" name="KBR H2ACT® assumptions"/>
          <p:cNvSpPr txBox="1"/>
          <p:nvPr/>
        </p:nvSpPr>
        <p:spPr>
          <a:xfrm>
            <a:off x="822960" y="201168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ISBL: power-law fit to KBR's stated points, 78 / 110 / 191 / 209 MM USD at 12 / 24 / 68 / 80 ktpa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OSBL: KBR total installed (derived from its LCOH) minus ISBL, fitted on its own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Other CAPEX: start-up, spares, inventory, catalyst fill at 30 USD/kg, licence €2.7M, owner's 7.5 %, contingency 25 %, escalation 3 %/yr × 2 yr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Class V (±50 %); excludes Terminal &amp; Storage, land, taxes, IDC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160 ktpa is extrapolated past KBR's 80 ktpa case</a:t>
            </a:r>
            <a:endParaRPr lang="en-US" sz="1600" dirty="0"/>
          </a:p>
        </p:txBody>
      </p:sp>
      <p:sp>
        <p:nvSpPr>
          <p:cNvPr id="6" name="Air Liquide (Le Havre) card"/>
          <p:cNvSpPr/>
          <p:nvPr/>
        </p:nvSpPr>
        <p:spPr>
          <a:xfrm>
            <a:off x="6172200" y="1371600"/>
            <a:ext cx="544068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Air Liquide (Le Havre)</a:t>
            </a:r>
            <a:endParaRPr lang="en-US" sz="2000" dirty="0"/>
          </a:p>
        </p:txBody>
      </p:sp>
      <p:sp>
        <p:nvSpPr>
          <p:cNvPr id="8" name="Air Liquide (Le Havre) assumptions"/>
          <p:cNvSpPr txBox="1"/>
          <p:nvPr/>
        </p:nvSpPr>
        <p:spPr>
          <a:xfrm>
            <a:off x="6446520" y="201168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Yearly tolling fee: €53.4M at 36.7 ktpa, €83.4M at 110 ktpa; power law between them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CAPEX = (fee − licence €8.50/t H₂) ÷ (CRF + fixed O&amp;M); 9 % real pre-tax, 20 years, O&amp;M 3 %; 1.1448 USD/EUR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NH₃:H₂ 6.8 t/t, the midpoint of VTTI's 6.3–7.3 range (feed only, no CAPEX effect)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Fee includes operator return; scope, term and indexation are not stated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24 and 160 ktpa are outside the quoted fee range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acker CAPEX">
  <a:themeElements>
    <a:clrScheme name="Cracker CAPEX">
      <a:dk1>
        <a:srgbClr val="1F2933"/>
      </a:dk1>
      <a:lt1>
        <a:srgbClr val="FFFFFF"/>
      </a:lt1>
      <a:dk2>
        <a:srgbClr val="52514E"/>
      </a:dk2>
      <a:lt2>
        <a:srgbClr val="F3F4F6"/>
      </a:lt2>
      <a:accent1>
        <a:srgbClr val="2A78D6"/>
      </a:accent1>
      <a:accent2>
        <a:srgbClr val="EB6834"/>
      </a:accent2>
      <a:accent3>
        <a:srgbClr val="1BAF7A"/>
      </a:accent3>
      <a:accent4>
        <a:srgbClr val="4A3AA7"/>
      </a:accent4>
      <a:accent5>
        <a:srgbClr val="EDA100"/>
      </a:accent5>
      <a:accent6>
        <a:srgbClr val="E34948"/>
      </a:accent6>
      <a:hlink>
        <a:srgbClr val="2A78D6"/>
      </a:hlink>
      <a:folHlink>
        <a:srgbClr val="4A3AA7"/>
      </a:folHlink>
    </a:clrScheme>
    <a:fontScheme name="Cracker CAPE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Ammonia cracker CAPEX: KBR vs Air Liquide</dc:title>
  <dc:subject>PptxGenJS Presentation</dc:subject>
  <dc:creator>Gentari engineering</dc:creator>
  <cp:lastModifiedBy>Gentari engineering</cp:lastModifiedBy>
  <cp:revision>1</cp:revision>
  <dcterms:created xsi:type="dcterms:W3CDTF">2026-10-08T06:54:07Z</dcterms:created>
  <dcterms:modified xsi:type="dcterms:W3CDTF">2026-10-08T06:54:07Z</dcterms:modified>
</cp:coreProperties>
</file>