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EX comparison" id="{60d8e0ae-49d9-0bf7-1697-8fd2a15486a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 Liquide implied CAPEX</c:v>
                </c:pt>
              </c:strCache>
            </c:strRef>
          </c:tx>
          <c:spPr>
            <a:solidFill>
              <a:srgbClr val="4A3AA7"/>
            </a:solidFill>
            <a:ln w="31750" cap="flat">
              <a:solidFill>
                <a:srgbClr val="4A3AA7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15.5</c:v>
                </c:pt>
                <c:pt idx="24">
                  <c:v>16</c:v>
                </c:pt>
                <c:pt idx="25">
                  <c:v>16.5</c:v>
                </c:pt>
                <c:pt idx="26">
                  <c:v>17</c:v>
                </c:pt>
                <c:pt idx="27">
                  <c:v>17.5</c:v>
                </c:pt>
                <c:pt idx="28">
                  <c:v>17.5283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Sheet1!$B$2:$B$35</c:f>
              <c:numCache>
                <c:formatCode>General</c:formatCode>
                <c:ptCount val="34"/>
                <c:pt idx="0">
                  <c:v>494.418</c:v>
                </c:pt>
                <c:pt idx="1">
                  <c:v>479.178</c:v>
                </c:pt>
                <c:pt idx="2">
                  <c:v>464.546</c:v>
                </c:pt>
                <c:pt idx="3">
                  <c:v>450.501</c:v>
                </c:pt>
                <c:pt idx="4">
                  <c:v>437.026</c:v>
                </c:pt>
                <c:pt idx="5">
                  <c:v>424.099</c:v>
                </c:pt>
                <c:pt idx="6">
                  <c:v>411.701</c:v>
                </c:pt>
                <c:pt idx="7">
                  <c:v>399.811</c:v>
                </c:pt>
                <c:pt idx="8">
                  <c:v>388.41</c:v>
                </c:pt>
                <c:pt idx="9">
                  <c:v>377.477</c:v>
                </c:pt>
                <c:pt idx="10">
                  <c:v>366.994</c:v>
                </c:pt>
                <c:pt idx="11">
                  <c:v>356.941</c:v>
                </c:pt>
                <c:pt idx="12">
                  <c:v>347.3</c:v>
                </c:pt>
                <c:pt idx="13">
                  <c:v>338.053</c:v>
                </c:pt>
                <c:pt idx="14">
                  <c:v>329.182</c:v>
                </c:pt>
                <c:pt idx="15">
                  <c:v>320.671</c:v>
                </c:pt>
                <c:pt idx="16">
                  <c:v>312.504</c:v>
                </c:pt>
                <c:pt idx="17">
                  <c:v>304.664</c:v>
                </c:pt>
                <c:pt idx="18">
                  <c:v>297.137</c:v>
                </c:pt>
                <c:pt idx="19">
                  <c:v>289.909</c:v>
                </c:pt>
                <c:pt idx="20">
                  <c:v>282.965</c:v>
                </c:pt>
                <c:pt idx="21">
                  <c:v>276.293</c:v>
                </c:pt>
                <c:pt idx="22">
                  <c:v>269.879</c:v>
                </c:pt>
                <c:pt idx="23">
                  <c:v>263.713</c:v>
                </c:pt>
                <c:pt idx="24">
                  <c:v>257.782</c:v>
                </c:pt>
                <c:pt idx="25">
                  <c:v>252.075</c:v>
                </c:pt>
                <c:pt idx="26">
                  <c:v>246.582</c:v>
                </c:pt>
                <c:pt idx="27">
                  <c:v>241.293</c:v>
                </c:pt>
                <c:pt idx="28">
                  <c:v>241</c:v>
                </c:pt>
                <c:pt idx="29">
                  <c:v>236.199</c:v>
                </c:pt>
                <c:pt idx="30">
                  <c:v>231.291</c:v>
                </c:pt>
                <c:pt idx="31">
                  <c:v>226.559</c:v>
                </c:pt>
                <c:pt idx="32">
                  <c:v>221.997</c:v>
                </c:pt>
                <c:pt idx="33">
                  <c:v>217.596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KBR CAPEX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15.5</c:v>
                </c:pt>
                <c:pt idx="24">
                  <c:v>16</c:v>
                </c:pt>
                <c:pt idx="25">
                  <c:v>16.5</c:v>
                </c:pt>
                <c:pt idx="26">
                  <c:v>17</c:v>
                </c:pt>
                <c:pt idx="27">
                  <c:v>17.5</c:v>
                </c:pt>
                <c:pt idx="28">
                  <c:v>17.5283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Sheet1!$C$2:$C$35</c:f>
              <c:numCache>
                <c:formatCode>General</c:formatCode>
                <c:ptCount val="34"/>
                <c:pt idx="0">
                  <c:v>241</c:v>
                </c:pt>
                <c:pt idx="1">
                  <c:v>241</c:v>
                </c:pt>
                <c:pt idx="2">
                  <c:v>241</c:v>
                </c:pt>
                <c:pt idx="3">
                  <c:v>241</c:v>
                </c:pt>
                <c:pt idx="4">
                  <c:v>241</c:v>
                </c:pt>
                <c:pt idx="5">
                  <c:v>241</c:v>
                </c:pt>
                <c:pt idx="6">
                  <c:v>241</c:v>
                </c:pt>
                <c:pt idx="7">
                  <c:v>241</c:v>
                </c:pt>
                <c:pt idx="8">
                  <c:v>241</c:v>
                </c:pt>
                <c:pt idx="9">
                  <c:v>241</c:v>
                </c:pt>
                <c:pt idx="10">
                  <c:v>241</c:v>
                </c:pt>
                <c:pt idx="11">
                  <c:v>241</c:v>
                </c:pt>
                <c:pt idx="12">
                  <c:v>241</c:v>
                </c:pt>
                <c:pt idx="13">
                  <c:v>241</c:v>
                </c:pt>
                <c:pt idx="14">
                  <c:v>241</c:v>
                </c:pt>
                <c:pt idx="15">
                  <c:v>241</c:v>
                </c:pt>
                <c:pt idx="16">
                  <c:v>241</c:v>
                </c:pt>
                <c:pt idx="17">
                  <c:v>241</c:v>
                </c:pt>
                <c:pt idx="18">
                  <c:v>241</c:v>
                </c:pt>
                <c:pt idx="19">
                  <c:v>241</c:v>
                </c:pt>
                <c:pt idx="20">
                  <c:v>241</c:v>
                </c:pt>
                <c:pt idx="21">
                  <c:v>241</c:v>
                </c:pt>
                <c:pt idx="22">
                  <c:v>241</c:v>
                </c:pt>
                <c:pt idx="23">
                  <c:v>241</c:v>
                </c:pt>
                <c:pt idx="24">
                  <c:v>241</c:v>
                </c:pt>
                <c:pt idx="25">
                  <c:v>241</c:v>
                </c:pt>
                <c:pt idx="26">
                  <c:v>241</c:v>
                </c:pt>
                <c:pt idx="27">
                  <c:v>241</c:v>
                </c:pt>
                <c:pt idx="28">
                  <c:v>241</c:v>
                </c:pt>
                <c:pt idx="29">
                  <c:v>241</c:v>
                </c:pt>
                <c:pt idx="30">
                  <c:v>241</c:v>
                </c:pt>
                <c:pt idx="31">
                  <c:v>241</c:v>
                </c:pt>
                <c:pt idx="32">
                  <c:v>241</c:v>
                </c:pt>
                <c:pt idx="33">
                  <c:v>241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Air Liquide at 9 %</c:v>
                </c:pt>
              </c:strCache>
            </c:strRef>
          </c:tx>
          <c:spPr>
            <a:solidFill>
              <a:srgbClr val="4A3AA7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4A3AA7"/>
              </a:solidFill>
              <a:ln w="2857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dLbls>
            <c:numFmt formatCode="#,##0&quot; at 9 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</c:dLbls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15.5</c:v>
                </c:pt>
                <c:pt idx="24">
                  <c:v>16</c:v>
                </c:pt>
                <c:pt idx="25">
                  <c:v>16.5</c:v>
                </c:pt>
                <c:pt idx="26">
                  <c:v>17</c:v>
                </c:pt>
                <c:pt idx="27">
                  <c:v>17.5</c:v>
                </c:pt>
                <c:pt idx="28">
                  <c:v>17.5283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Sheet1!$D$2:$D$35</c:f>
              <c:numCache>
                <c:formatCode>General</c:formatCode>
                <c:ptCount val="34"/>
                <c:pt idx="10">
                  <c:v>366.994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Break-even</c:v>
                </c:pt>
              </c:strCache>
            </c:strRef>
          </c:tx>
          <c:spPr>
            <a:solidFill>
              <a:srgbClr val="1F2933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1F2933"/>
              </a:solidFill>
              <a:ln w="2857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dLbls>
            <c:dLbl>
              <c:idx val="2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1F2933"/>
                        </a:solidFill>
                        <a:latin typeface="+mn-lt"/>
                      </a:rPr>
                      <a:t>17.5 %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15.5</c:v>
                </c:pt>
                <c:pt idx="24">
                  <c:v>16</c:v>
                </c:pt>
                <c:pt idx="25">
                  <c:v>16.5</c:v>
                </c:pt>
                <c:pt idx="26">
                  <c:v>17</c:v>
                </c:pt>
                <c:pt idx="27">
                  <c:v>17.5</c:v>
                </c:pt>
                <c:pt idx="28">
                  <c:v>17.5283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Sheet1!$E$2:$E$35</c:f>
              <c:numCache>
                <c:formatCode>General</c:formatCode>
                <c:ptCount val="34"/>
                <c:pt idx="28">
                  <c:v>241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4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2514E"/>
                    </a:solidFill>
                    <a:latin typeface="+mn-lt"/>
                  </a:rPr>
                  <a:t>Discount rate applied to the fee</a:t>
                </a:r>
              </a:p>
            </c:rich>
          </c:tx>
          <c:layout/>
          <c:overlay val="0"/>
        </c:title>
        <c:numFmt formatCode="0&quot;%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4"/>
      </c:val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2514E"/>
                    </a:solidFill>
                    <a:latin typeface="+mn-lt"/>
                  </a:rPr>
                  <a:t>CAPEX, MM USD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 Liquide implied CAPEX</c:v>
                </c:pt>
              </c:strCache>
            </c:strRef>
          </c:tx>
          <c:spPr>
            <a:solidFill>
              <a:srgbClr val="4A3AA7"/>
            </a:solidFill>
            <a:ln w="31750" cap="flat">
              <a:solidFill>
                <a:srgbClr val="4A3AA7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15.5</c:v>
                </c:pt>
                <c:pt idx="24">
                  <c:v>16</c:v>
                </c:pt>
                <c:pt idx="25">
                  <c:v>16.3032</c:v>
                </c:pt>
                <c:pt idx="26">
                  <c:v>16.5</c:v>
                </c:pt>
                <c:pt idx="27">
                  <c:v>17</c:v>
                </c:pt>
                <c:pt idx="28">
                  <c:v>17.5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Sheet1!$B$2:$B$35</c:f>
              <c:numCache>
                <c:formatCode>General</c:formatCode>
                <c:ptCount val="34"/>
                <c:pt idx="0">
                  <c:v>802.401</c:v>
                </c:pt>
                <c:pt idx="1">
                  <c:v>777.667</c:v>
                </c:pt>
                <c:pt idx="2">
                  <c:v>753.92</c:v>
                </c:pt>
                <c:pt idx="3">
                  <c:v>731.127</c:v>
                </c:pt>
                <c:pt idx="4">
                  <c:v>709.258</c:v>
                </c:pt>
                <c:pt idx="5">
                  <c:v>688.279</c:v>
                </c:pt>
                <c:pt idx="6">
                  <c:v>668.158</c:v>
                </c:pt>
                <c:pt idx="7">
                  <c:v>648.861</c:v>
                </c:pt>
                <c:pt idx="8">
                  <c:v>630.358</c:v>
                </c:pt>
                <c:pt idx="9">
                  <c:v>612.615</c:v>
                </c:pt>
                <c:pt idx="10">
                  <c:v>595.601</c:v>
                </c:pt>
                <c:pt idx="11">
                  <c:v>579.286</c:v>
                </c:pt>
                <c:pt idx="12">
                  <c:v>563.64</c:v>
                </c:pt>
                <c:pt idx="13">
                  <c:v>548.632</c:v>
                </c:pt>
                <c:pt idx="14">
                  <c:v>534.236</c:v>
                </c:pt>
                <c:pt idx="15">
                  <c:v>520.423</c:v>
                </c:pt>
                <c:pt idx="16">
                  <c:v>507.168</c:v>
                </c:pt>
                <c:pt idx="17">
                  <c:v>494.445</c:v>
                </c:pt>
                <c:pt idx="18">
                  <c:v>482.229</c:v>
                </c:pt>
                <c:pt idx="19">
                  <c:v>470.498</c:v>
                </c:pt>
                <c:pt idx="20">
                  <c:v>459.229</c:v>
                </c:pt>
                <c:pt idx="21">
                  <c:v>448.401</c:v>
                </c:pt>
                <c:pt idx="22">
                  <c:v>437.992</c:v>
                </c:pt>
                <c:pt idx="23">
                  <c:v>427.985</c:v>
                </c:pt>
                <c:pt idx="24">
                  <c:v>418.359</c:v>
                </c:pt>
                <c:pt idx="25">
                  <c:v>412.7</c:v>
                </c:pt>
                <c:pt idx="26">
                  <c:v>409.097</c:v>
                </c:pt>
                <c:pt idx="27">
                  <c:v>400.183</c:v>
                </c:pt>
                <c:pt idx="28">
                  <c:v>391.599</c:v>
                </c:pt>
                <c:pt idx="29">
                  <c:v>383.332</c:v>
                </c:pt>
                <c:pt idx="30">
                  <c:v>375.366</c:v>
                </c:pt>
                <c:pt idx="31">
                  <c:v>367.688</c:v>
                </c:pt>
                <c:pt idx="32">
                  <c:v>360.284</c:v>
                </c:pt>
                <c:pt idx="33">
                  <c:v>353.141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KBR CAPEX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15.5</c:v>
                </c:pt>
                <c:pt idx="24">
                  <c:v>16</c:v>
                </c:pt>
                <c:pt idx="25">
                  <c:v>16.3032</c:v>
                </c:pt>
                <c:pt idx="26">
                  <c:v>16.5</c:v>
                </c:pt>
                <c:pt idx="27">
                  <c:v>17</c:v>
                </c:pt>
                <c:pt idx="28">
                  <c:v>17.5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Sheet1!$C$2:$C$35</c:f>
              <c:numCache>
                <c:formatCode>General</c:formatCode>
                <c:ptCount val="34"/>
                <c:pt idx="0">
                  <c:v>412.7</c:v>
                </c:pt>
                <c:pt idx="1">
                  <c:v>412.7</c:v>
                </c:pt>
                <c:pt idx="2">
                  <c:v>412.7</c:v>
                </c:pt>
                <c:pt idx="3">
                  <c:v>412.7</c:v>
                </c:pt>
                <c:pt idx="4">
                  <c:v>412.7</c:v>
                </c:pt>
                <c:pt idx="5">
                  <c:v>412.7</c:v>
                </c:pt>
                <c:pt idx="6">
                  <c:v>412.7</c:v>
                </c:pt>
                <c:pt idx="7">
                  <c:v>412.7</c:v>
                </c:pt>
                <c:pt idx="8">
                  <c:v>412.7</c:v>
                </c:pt>
                <c:pt idx="9">
                  <c:v>412.7</c:v>
                </c:pt>
                <c:pt idx="10">
                  <c:v>412.7</c:v>
                </c:pt>
                <c:pt idx="11">
                  <c:v>412.7</c:v>
                </c:pt>
                <c:pt idx="12">
                  <c:v>412.7</c:v>
                </c:pt>
                <c:pt idx="13">
                  <c:v>412.7</c:v>
                </c:pt>
                <c:pt idx="14">
                  <c:v>412.7</c:v>
                </c:pt>
                <c:pt idx="15">
                  <c:v>412.7</c:v>
                </c:pt>
                <c:pt idx="16">
                  <c:v>412.7</c:v>
                </c:pt>
                <c:pt idx="17">
                  <c:v>412.7</c:v>
                </c:pt>
                <c:pt idx="18">
                  <c:v>412.7</c:v>
                </c:pt>
                <c:pt idx="19">
                  <c:v>412.7</c:v>
                </c:pt>
                <c:pt idx="20">
                  <c:v>412.7</c:v>
                </c:pt>
                <c:pt idx="21">
                  <c:v>412.7</c:v>
                </c:pt>
                <c:pt idx="22">
                  <c:v>412.7</c:v>
                </c:pt>
                <c:pt idx="23">
                  <c:v>412.7</c:v>
                </c:pt>
                <c:pt idx="24">
                  <c:v>412.7</c:v>
                </c:pt>
                <c:pt idx="25">
                  <c:v>412.7</c:v>
                </c:pt>
                <c:pt idx="26">
                  <c:v>412.7</c:v>
                </c:pt>
                <c:pt idx="27">
                  <c:v>412.7</c:v>
                </c:pt>
                <c:pt idx="28">
                  <c:v>412.7</c:v>
                </c:pt>
                <c:pt idx="29">
                  <c:v>412.7</c:v>
                </c:pt>
                <c:pt idx="30">
                  <c:v>412.7</c:v>
                </c:pt>
                <c:pt idx="31">
                  <c:v>412.7</c:v>
                </c:pt>
                <c:pt idx="32">
                  <c:v>412.7</c:v>
                </c:pt>
                <c:pt idx="33">
                  <c:v>412.7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Air Liquide at 9 %</c:v>
                </c:pt>
              </c:strCache>
            </c:strRef>
          </c:tx>
          <c:spPr>
            <a:solidFill>
              <a:srgbClr val="4A3AA7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4A3AA7"/>
              </a:solidFill>
              <a:ln w="2857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dLbls>
            <c:numFmt formatCode="#,##0&quot; at 9 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</c:dLbls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15.5</c:v>
                </c:pt>
                <c:pt idx="24">
                  <c:v>16</c:v>
                </c:pt>
                <c:pt idx="25">
                  <c:v>16.3032</c:v>
                </c:pt>
                <c:pt idx="26">
                  <c:v>16.5</c:v>
                </c:pt>
                <c:pt idx="27">
                  <c:v>17</c:v>
                </c:pt>
                <c:pt idx="28">
                  <c:v>17.5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Sheet1!$D$2:$D$35</c:f>
              <c:numCache>
                <c:formatCode>General</c:formatCode>
                <c:ptCount val="34"/>
                <c:pt idx="10">
                  <c:v>595.601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Break-even</c:v>
                </c:pt>
              </c:strCache>
            </c:strRef>
          </c:tx>
          <c:spPr>
            <a:solidFill>
              <a:srgbClr val="1F2933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1F2933"/>
              </a:solidFill>
              <a:ln w="2857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dLbls>
            <c:dLbl>
              <c:idx val="25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1F2933"/>
                        </a:solidFill>
                        <a:latin typeface="+mn-lt"/>
                      </a:rPr>
                      <a:t>16.3 %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15.5</c:v>
                </c:pt>
                <c:pt idx="24">
                  <c:v>16</c:v>
                </c:pt>
                <c:pt idx="25">
                  <c:v>16.3032</c:v>
                </c:pt>
                <c:pt idx="26">
                  <c:v>16.5</c:v>
                </c:pt>
                <c:pt idx="27">
                  <c:v>17</c:v>
                </c:pt>
                <c:pt idx="28">
                  <c:v>17.5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Sheet1!$E$2:$E$35</c:f>
              <c:numCache>
                <c:formatCode>General</c:formatCode>
                <c:ptCount val="34"/>
                <c:pt idx="25">
                  <c:v>412.7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4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2514E"/>
                    </a:solidFill>
                    <a:latin typeface="+mn-lt"/>
                  </a:rPr>
                  <a:t>Discount rate applied to the fee</a:t>
                </a:r>
              </a:p>
            </c:rich>
          </c:tx>
          <c:layout/>
          <c:overlay val="0"/>
        </c:title>
        <c:numFmt formatCode="0&quot;%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4"/>
      </c:val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200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 Liquide implied CAPEX</c:v>
                </c:pt>
              </c:strCache>
            </c:strRef>
          </c:tx>
          <c:spPr>
            <a:solidFill>
              <a:srgbClr val="4A3AA7"/>
            </a:solidFill>
            <a:ln w="31750" cap="flat">
              <a:solidFill>
                <a:srgbClr val="4A3AA7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15.2452</c:v>
                </c:pt>
                <c:pt idx="24">
                  <c:v>15.5</c:v>
                </c:pt>
                <c:pt idx="25">
                  <c:v>16</c:v>
                </c:pt>
                <c:pt idx="26">
                  <c:v>16.5</c:v>
                </c:pt>
                <c:pt idx="27">
                  <c:v>17</c:v>
                </c:pt>
                <c:pt idx="28">
                  <c:v>17.5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Sheet1!$B$2:$B$35</c:f>
              <c:numCache>
                <c:formatCode>General</c:formatCode>
                <c:ptCount val="34"/>
                <c:pt idx="0">
                  <c:v>1058.229</c:v>
                </c:pt>
                <c:pt idx="1">
                  <c:v>1025.61</c:v>
                </c:pt>
                <c:pt idx="2">
                  <c:v>994.291</c:v>
                </c:pt>
                <c:pt idx="3">
                  <c:v>964.232</c:v>
                </c:pt>
                <c:pt idx="4">
                  <c:v>935.39</c:v>
                </c:pt>
                <c:pt idx="5">
                  <c:v>907.722</c:v>
                </c:pt>
                <c:pt idx="6">
                  <c:v>881.185</c:v>
                </c:pt>
                <c:pt idx="7">
                  <c:v>855.737</c:v>
                </c:pt>
                <c:pt idx="8">
                  <c:v>831.334</c:v>
                </c:pt>
                <c:pt idx="9">
                  <c:v>807.934</c:v>
                </c:pt>
                <c:pt idx="10">
                  <c:v>785.496</c:v>
                </c:pt>
                <c:pt idx="11">
                  <c:v>763.979</c:v>
                </c:pt>
                <c:pt idx="12">
                  <c:v>743.344</c:v>
                </c:pt>
                <c:pt idx="13">
                  <c:v>723.552</c:v>
                </c:pt>
                <c:pt idx="14">
                  <c:v>704.565</c:v>
                </c:pt>
                <c:pt idx="15">
                  <c:v>686.349</c:v>
                </c:pt>
                <c:pt idx="16">
                  <c:v>668.868</c:v>
                </c:pt>
                <c:pt idx="17">
                  <c:v>652.088</c:v>
                </c:pt>
                <c:pt idx="18">
                  <c:v>635.978</c:v>
                </c:pt>
                <c:pt idx="19">
                  <c:v>620.507</c:v>
                </c:pt>
                <c:pt idx="20">
                  <c:v>605.645</c:v>
                </c:pt>
                <c:pt idx="21">
                  <c:v>591.364</c:v>
                </c:pt>
                <c:pt idx="22">
                  <c:v>577.637</c:v>
                </c:pt>
                <c:pt idx="23">
                  <c:v>571.1</c:v>
                </c:pt>
                <c:pt idx="24">
                  <c:v>564.438</c:v>
                </c:pt>
                <c:pt idx="25">
                  <c:v>551.743</c:v>
                </c:pt>
                <c:pt idx="26">
                  <c:v>539.529</c:v>
                </c:pt>
                <c:pt idx="27">
                  <c:v>527.772</c:v>
                </c:pt>
                <c:pt idx="28">
                  <c:v>516.453</c:v>
                </c:pt>
                <c:pt idx="29">
                  <c:v>505.549</c:v>
                </c:pt>
                <c:pt idx="30">
                  <c:v>495.044</c:v>
                </c:pt>
                <c:pt idx="31">
                  <c:v>484.917</c:v>
                </c:pt>
                <c:pt idx="32">
                  <c:v>475.152</c:v>
                </c:pt>
                <c:pt idx="33">
                  <c:v>465.733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KBR CAPEX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15.2452</c:v>
                </c:pt>
                <c:pt idx="24">
                  <c:v>15.5</c:v>
                </c:pt>
                <c:pt idx="25">
                  <c:v>16</c:v>
                </c:pt>
                <c:pt idx="26">
                  <c:v>16.5</c:v>
                </c:pt>
                <c:pt idx="27">
                  <c:v>17</c:v>
                </c:pt>
                <c:pt idx="28">
                  <c:v>17.5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Sheet1!$C$2:$C$35</c:f>
              <c:numCache>
                <c:formatCode>General</c:formatCode>
                <c:ptCount val="34"/>
                <c:pt idx="0">
                  <c:v>571.1</c:v>
                </c:pt>
                <c:pt idx="1">
                  <c:v>571.1</c:v>
                </c:pt>
                <c:pt idx="2">
                  <c:v>571.1</c:v>
                </c:pt>
                <c:pt idx="3">
                  <c:v>571.1</c:v>
                </c:pt>
                <c:pt idx="4">
                  <c:v>571.1</c:v>
                </c:pt>
                <c:pt idx="5">
                  <c:v>571.1</c:v>
                </c:pt>
                <c:pt idx="6">
                  <c:v>571.1</c:v>
                </c:pt>
                <c:pt idx="7">
                  <c:v>571.1</c:v>
                </c:pt>
                <c:pt idx="8">
                  <c:v>571.1</c:v>
                </c:pt>
                <c:pt idx="9">
                  <c:v>571.1</c:v>
                </c:pt>
                <c:pt idx="10">
                  <c:v>571.1</c:v>
                </c:pt>
                <c:pt idx="11">
                  <c:v>571.1</c:v>
                </c:pt>
                <c:pt idx="12">
                  <c:v>571.1</c:v>
                </c:pt>
                <c:pt idx="13">
                  <c:v>571.1</c:v>
                </c:pt>
                <c:pt idx="14">
                  <c:v>571.1</c:v>
                </c:pt>
                <c:pt idx="15">
                  <c:v>571.1</c:v>
                </c:pt>
                <c:pt idx="16">
                  <c:v>571.1</c:v>
                </c:pt>
                <c:pt idx="17">
                  <c:v>571.1</c:v>
                </c:pt>
                <c:pt idx="18">
                  <c:v>571.1</c:v>
                </c:pt>
                <c:pt idx="19">
                  <c:v>571.1</c:v>
                </c:pt>
                <c:pt idx="20">
                  <c:v>571.1</c:v>
                </c:pt>
                <c:pt idx="21">
                  <c:v>571.1</c:v>
                </c:pt>
                <c:pt idx="22">
                  <c:v>571.1</c:v>
                </c:pt>
                <c:pt idx="23">
                  <c:v>571.1</c:v>
                </c:pt>
                <c:pt idx="24">
                  <c:v>571.1</c:v>
                </c:pt>
                <c:pt idx="25">
                  <c:v>571.1</c:v>
                </c:pt>
                <c:pt idx="26">
                  <c:v>571.1</c:v>
                </c:pt>
                <c:pt idx="27">
                  <c:v>571.1</c:v>
                </c:pt>
                <c:pt idx="28">
                  <c:v>571.1</c:v>
                </c:pt>
                <c:pt idx="29">
                  <c:v>571.1</c:v>
                </c:pt>
                <c:pt idx="30">
                  <c:v>571.1</c:v>
                </c:pt>
                <c:pt idx="31">
                  <c:v>571.1</c:v>
                </c:pt>
                <c:pt idx="32">
                  <c:v>571.1</c:v>
                </c:pt>
                <c:pt idx="33">
                  <c:v>571.1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Air Liquide at 9 %</c:v>
                </c:pt>
              </c:strCache>
            </c:strRef>
          </c:tx>
          <c:spPr>
            <a:solidFill>
              <a:srgbClr val="4A3AA7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4A3AA7"/>
              </a:solidFill>
              <a:ln w="2857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dLbls>
            <c:numFmt formatCode="#,##0&quot; at 9 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</c:dLbls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15.2452</c:v>
                </c:pt>
                <c:pt idx="24">
                  <c:v>15.5</c:v>
                </c:pt>
                <c:pt idx="25">
                  <c:v>16</c:v>
                </c:pt>
                <c:pt idx="26">
                  <c:v>16.5</c:v>
                </c:pt>
                <c:pt idx="27">
                  <c:v>17</c:v>
                </c:pt>
                <c:pt idx="28">
                  <c:v>17.5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Sheet1!$D$2:$D$35</c:f>
              <c:numCache>
                <c:formatCode>General</c:formatCode>
                <c:ptCount val="34"/>
                <c:pt idx="10">
                  <c:v>785.496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Break-even</c:v>
                </c:pt>
              </c:strCache>
            </c:strRef>
          </c:tx>
          <c:spPr>
            <a:solidFill>
              <a:srgbClr val="1F2933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1F2933"/>
              </a:solidFill>
              <a:ln w="2857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dLbls>
            <c:dLbl>
              <c:idx val="23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1F2933"/>
                        </a:solidFill>
                        <a:latin typeface="+mn-lt"/>
                      </a:rPr>
                      <a:t>15.2 %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xVal>
            <c:numRef>
              <c:f>Sheet1!$A$2:$A$35</c:f>
              <c:numCache>
                <c:formatCode>General</c:formatCode>
                <c:ptCount val="34"/>
                <c:pt idx="0">
                  <c:v>4</c:v>
                </c:pt>
                <c:pt idx="1">
                  <c:v>4.5</c:v>
                </c:pt>
                <c:pt idx="2">
                  <c:v>5</c:v>
                </c:pt>
                <c:pt idx="3">
                  <c:v>5.5</c:v>
                </c:pt>
                <c:pt idx="4">
                  <c:v>6</c:v>
                </c:pt>
                <c:pt idx="5">
                  <c:v>6.5</c:v>
                </c:pt>
                <c:pt idx="6">
                  <c:v>7</c:v>
                </c:pt>
                <c:pt idx="7">
                  <c:v>7.5</c:v>
                </c:pt>
                <c:pt idx="8">
                  <c:v>8</c:v>
                </c:pt>
                <c:pt idx="9">
                  <c:v>8.5</c:v>
                </c:pt>
                <c:pt idx="10">
                  <c:v>9</c:v>
                </c:pt>
                <c:pt idx="11">
                  <c:v>9.5</c:v>
                </c:pt>
                <c:pt idx="12">
                  <c:v>10</c:v>
                </c:pt>
                <c:pt idx="13">
                  <c:v>10.5</c:v>
                </c:pt>
                <c:pt idx="14">
                  <c:v>11</c:v>
                </c:pt>
                <c:pt idx="15">
                  <c:v>11.5</c:v>
                </c:pt>
                <c:pt idx="16">
                  <c:v>12</c:v>
                </c:pt>
                <c:pt idx="17">
                  <c:v>12.5</c:v>
                </c:pt>
                <c:pt idx="18">
                  <c:v>13</c:v>
                </c:pt>
                <c:pt idx="19">
                  <c:v>13.5</c:v>
                </c:pt>
                <c:pt idx="20">
                  <c:v>14</c:v>
                </c:pt>
                <c:pt idx="21">
                  <c:v>14.5</c:v>
                </c:pt>
                <c:pt idx="22">
                  <c:v>15</c:v>
                </c:pt>
                <c:pt idx="23">
                  <c:v>15.2452</c:v>
                </c:pt>
                <c:pt idx="24">
                  <c:v>15.5</c:v>
                </c:pt>
                <c:pt idx="25">
                  <c:v>16</c:v>
                </c:pt>
                <c:pt idx="26">
                  <c:v>16.5</c:v>
                </c:pt>
                <c:pt idx="27">
                  <c:v>17</c:v>
                </c:pt>
                <c:pt idx="28">
                  <c:v>17.5</c:v>
                </c:pt>
                <c:pt idx="29">
                  <c:v>18</c:v>
                </c:pt>
                <c:pt idx="30">
                  <c:v>18.5</c:v>
                </c:pt>
                <c:pt idx="31">
                  <c:v>19</c:v>
                </c:pt>
                <c:pt idx="32">
                  <c:v>19.5</c:v>
                </c:pt>
                <c:pt idx="33">
                  <c:v>20</c:v>
                </c:pt>
              </c:numCache>
            </c:numRef>
          </c:xVal>
          <c:yVal>
            <c:numRef>
              <c:f>Sheet1!$E$2:$E$35</c:f>
              <c:numCache>
                <c:formatCode>General</c:formatCode>
                <c:ptCount val="34"/>
                <c:pt idx="23">
                  <c:v>571.1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4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2514E"/>
                    </a:solidFill>
                    <a:latin typeface="+mn-lt"/>
                  </a:rPr>
                  <a:t>Discount rate applied to the fee</a:t>
                </a:r>
              </a:p>
            </c:rich>
          </c:tx>
          <c:layout/>
          <c:overlay val="0"/>
        </c:title>
        <c:numFmt formatCode="0&quot;%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4"/>
      </c:valAx>
      <c:valAx>
        <c:axId val="2094734552"/>
        <c:scaling>
          <c:orientation val="minMax"/>
          <c:max val="1100"/>
          <c:min val="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200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Break-even = discount rate at which the Air Liquide implied CAPEX equals KBR's total CAPEX, with a 20-year term and 3 % fixed O&amp;M held at the model defaults. Higher rate means the same fee repays capital faster, so it supports less CAPEX.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Ammonia cracker CAPEX · KBR H2ACT® vs Air Liquide implied · overnight, MM USD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Air Liquide's fee only matches KBR's CAPEX at a 15.2–17.5 % discount rate, 6.2–8.5 points above the 9 % base</a:t>
            </a:r>
            <a:endParaRPr lang="en-US" sz="3000" dirty="0"/>
          </a:p>
        </p:txBody>
      </p:sp>
      <p:sp>
        <p:nvSpPr>
          <p:cNvPr id="3" name="Legend key"/>
          <p:cNvSpPr/>
          <p:nvPr/>
        </p:nvSpPr>
        <p:spPr>
          <a:xfrm>
            <a:off x="548640" y="1463040"/>
            <a:ext cx="365760" cy="0"/>
          </a:xfrm>
          <a:prstGeom prst="line">
            <a:avLst/>
          </a:prstGeom>
          <a:noFill/>
          <a:ln w="31750">
            <a:solidFill>
              <a:srgbClr val="4A3A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Air Liquide implied CAPEX</a:t>
            </a:r>
            <a:endParaRPr lang="en-US" sz="1200" dirty="0"/>
          </a:p>
        </p:txBody>
      </p:sp>
      <p:sp>
        <p:nvSpPr>
          <p:cNvPr id="5" name="Legend key"/>
          <p:cNvSpPr/>
          <p:nvPr/>
        </p:nvSpPr>
        <p:spPr>
          <a:xfrm>
            <a:off x="3337560" y="1463040"/>
            <a:ext cx="365760" cy="0"/>
          </a:xfrm>
          <a:prstGeom prst="line">
            <a:avLst/>
          </a:prstGeom>
          <a:noFill/>
          <a:ln w="3175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947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KBR CAPEX (fixed)</a:t>
            </a:r>
            <a:endParaRPr lang="en-US" sz="1200" dirty="0"/>
          </a:p>
        </p:txBody>
      </p:sp>
      <p:sp>
        <p:nvSpPr>
          <p:cNvPr id="7" name="Legend key"/>
          <p:cNvSpPr/>
          <p:nvPr/>
        </p:nvSpPr>
        <p:spPr>
          <a:xfrm>
            <a:off x="5669280" y="1389888"/>
            <a:ext cx="146304" cy="146304"/>
          </a:xfrm>
          <a:prstGeom prst="ellipse">
            <a:avLst/>
          </a:prstGeom>
          <a:solidFill>
            <a:srgbClr val="4A3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Air Liquide at the model's 9 %</a:t>
            </a:r>
            <a:endParaRPr lang="en-US" sz="1200" dirty="0"/>
          </a:p>
        </p:txBody>
      </p:sp>
      <p:sp>
        <p:nvSpPr>
          <p:cNvPr id="9" name="Legend key"/>
          <p:cNvSpPr/>
          <p:nvPr/>
        </p:nvSpPr>
        <p:spPr>
          <a:xfrm>
            <a:off x="8412480" y="1389888"/>
            <a:ext cx="146304" cy="14630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4108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Break-even rate</a:t>
            </a:r>
            <a:endParaRPr lang="en-US" sz="1200" dirty="0"/>
          </a:p>
        </p:txBody>
      </p:sp>
      <p:sp>
        <p:nvSpPr>
          <p:cNvPr id="11" name="Panel title 24"/>
          <p:cNvSpPr txBox="1"/>
          <p:nvPr/>
        </p:nvSpPr>
        <p:spPr>
          <a:xfrm>
            <a:off x="5486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24 ktpa H₂ · Air Liquide fee extrapolated</a:t>
            </a:r>
            <a:endParaRPr lang="en-US" sz="1300" dirty="0"/>
          </a:p>
        </p:txBody>
      </p:sp>
      <p:graphicFrame>
        <p:nvGraphicFramePr>
          <p:cNvPr id="12" name="Break-even chart 24 ktpa" descr=""/>
          <p:cNvGraphicFramePr/>
          <p:nvPr/>
        </p:nvGraphicFramePr>
        <p:xfrm>
          <a:off x="457200" y="1965960"/>
          <a:ext cx="36576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Panel title 80"/>
          <p:cNvSpPr txBox="1"/>
          <p:nvPr/>
        </p:nvSpPr>
        <p:spPr>
          <a:xfrm>
            <a:off x="42976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80 ktpa H₂</a:t>
            </a:r>
            <a:endParaRPr lang="en-US" sz="1300" dirty="0"/>
          </a:p>
        </p:txBody>
      </p:sp>
      <p:graphicFrame>
        <p:nvGraphicFramePr>
          <p:cNvPr id="14" name="Break-even chart 80 ktpa" descr=""/>
          <p:cNvGraphicFramePr/>
          <p:nvPr/>
        </p:nvGraphicFramePr>
        <p:xfrm>
          <a:off x="4206240" y="1965960"/>
          <a:ext cx="36576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Panel title 160"/>
          <p:cNvSpPr txBox="1"/>
          <p:nvPr/>
        </p:nvSpPr>
        <p:spPr>
          <a:xfrm>
            <a:off x="804672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160 ktpa H₂ · KBR and Air Liquide extrapolated</a:t>
            </a:r>
            <a:endParaRPr lang="en-US" sz="1300" dirty="0"/>
          </a:p>
        </p:txBody>
      </p:sp>
      <p:graphicFrame>
        <p:nvGraphicFramePr>
          <p:cNvPr id="16" name="Break-even chart 160 ktpa" descr=""/>
          <p:cNvGraphicFramePr/>
          <p:nvPr/>
        </p:nvGraphicFramePr>
        <p:xfrm>
          <a:off x="7955280" y="1965960"/>
          <a:ext cx="36576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" name="Break-eve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36008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2651760"/>
                <a:gridCol w="246888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H₂ capacity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KBR CAPEX, MM USD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Air Liquide at 9 %, MM USD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Break-even discount rate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Above the 9 % base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</a:rPr>
                        <a:t>24 ktpa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241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367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</a:rPr>
                        <a:t>17.5 %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+8.5 pts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</a:rPr>
                        <a:t>80 ktpa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413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596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</a:rPr>
                        <a:t>16.3 %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+7.3 pts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</a:rPr>
                        <a:t>160 ktpa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571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785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</a:rPr>
                        <a:t>15.2 %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+6.2 pts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Air Liquide CAPEX = (yearly fee − licence €8.50/t H₂) ÷ (CRF(rate, 20 yr) + 3 % fixed O&amp;M) × 1.1448 USD/EUR. Fee: power law through €53.4M at 36.7 ktpa and €83.4M at 110 ktpa. Only the discount rate varies; KBR CAPEX is fixed (same basis as slide 1). The fee includes operator return, a different basis from KBR, and its scope, term and indexation are not stated, so a gap does not mean a 16 % cost of capital.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acker CAPEX">
  <a:themeElements>
    <a:clrScheme name="Cracker CAPEX">
      <a:dk1>
        <a:srgbClr val="1F2933"/>
      </a:dk1>
      <a:lt1>
        <a:srgbClr val="FFFFFF"/>
      </a:lt1>
      <a:dk2>
        <a:srgbClr val="52514E"/>
      </a:dk2>
      <a:lt2>
        <a:srgbClr val="F3F4F6"/>
      </a:lt2>
      <a:accent1>
        <a:srgbClr val="2A78D6"/>
      </a:accent1>
      <a:accent2>
        <a:srgbClr val="EB6834"/>
      </a:accent2>
      <a:accent3>
        <a:srgbClr val="1BAF7A"/>
      </a:accent3>
      <a:accent4>
        <a:srgbClr val="4A3AA7"/>
      </a:accent4>
      <a:accent5>
        <a:srgbClr val="EDA100"/>
      </a:accent5>
      <a:accent6>
        <a:srgbClr val="E34948"/>
      </a:accent6>
      <a:hlink>
        <a:srgbClr val="2A78D6"/>
      </a:hlink>
      <a:folHlink>
        <a:srgbClr val="4A3AA7"/>
      </a:folHlink>
    </a:clrScheme>
    <a:fontScheme name="Cracker CAPE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Ammonia cracker CAPEX: KBR vs Air Liquide</dc:title>
  <dc:subject>PptxGenJS Presentation</dc:subject>
  <dc:creator>Gentari engineering</dc:creator>
  <cp:lastModifiedBy>Gentari engineering</cp:lastModifiedBy>
  <cp:revision>1</cp:revision>
  <dcterms:created xsi:type="dcterms:W3CDTF">2026-10-08T06:58:33Z</dcterms:created>
  <dcterms:modified xsi:type="dcterms:W3CDTF">2026-10-08T06:58:33Z</dcterms:modified>
</cp:coreProperties>
</file>